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presProps" Target="presProps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Relationship Id="rId24" Type="http://schemas.openxmlformats.org/officeDocument/2006/relationships/customXml" Target="../customXml/item3.xml"/><Relationship Id="rId5" Type="http://schemas.openxmlformats.org/officeDocument/2006/relationships/theme" Target="theme/theme1.xml"/><Relationship Id="rId15" Type="http://schemas.openxmlformats.org/officeDocument/2006/relationships/slide" Target="slides/slide9.xml"/><Relationship Id="rId23" Type="http://schemas.openxmlformats.org/officeDocument/2006/relationships/customXml" Target="../customXml/item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customXml" Target="../customXml/item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011680"/>
            <a:ext cx="7772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1" i="0">
                <a:solidFill>
                  <a:srgbClr val="ED8B00"/>
                </a:solidFill>
                <a:latin typeface="Calibri"/>
              </a:rPr>
              <a:t>Operadores em 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00"/>
            <a:ext cx="6858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Módulo 01 - Fundamentos de Programação com Java
Aula 05 de 10 | 4 horas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" y="502920"/>
            <a:ext cx="6400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004382"/>
                </a:solidFill>
                <a:latin typeface="Calibri"/>
              </a:rPr>
              <a:t>Objetivos da Aula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143000"/>
            <a:ext cx="6400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D8B00"/>
                </a:solidFill>
                <a:latin typeface="Calibri"/>
              </a:rPr>
              <a:t>O QUE VAMOS APRENDER HOJE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28800"/>
            <a:ext cx="7315200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  <a:buChar char="•"/>
            </a:pPr>
            <a:r>
              <a:rPr b="1" sz="1600">
                <a:solidFill>
                  <a:srgbClr val="004382"/>
                </a:solidFill>
                <a:latin typeface="Calibri"/>
              </a:rPr>
              <a:t>Utilizar </a:t>
            </a:r>
            <a:r>
              <a:rPr sz="1600">
                <a:solidFill>
                  <a:srgbClr val="333333"/>
                </a:solidFill>
                <a:latin typeface="Calibri"/>
              </a:rPr>
              <a:t>operadores aritméticos para cálculos.</a:t>
            </a:r>
          </a:p>
          <a:p>
            <a:pPr>
              <a:spcAft>
                <a:spcPts val="600"/>
              </a:spcAft>
              <a:buChar char="•"/>
            </a:pPr>
            <a:r>
              <a:rPr b="1" sz="1600">
                <a:solidFill>
                  <a:srgbClr val="004382"/>
                </a:solidFill>
                <a:latin typeface="Calibri"/>
              </a:rPr>
              <a:t>Aplicar </a:t>
            </a:r>
            <a:r>
              <a:rPr sz="1600">
                <a:solidFill>
                  <a:srgbClr val="333333"/>
                </a:solidFill>
                <a:latin typeface="Calibri"/>
              </a:rPr>
              <a:t>operadores relacionais para comparações.</a:t>
            </a:r>
          </a:p>
          <a:p>
            <a:pPr>
              <a:spcAft>
                <a:spcPts val="600"/>
              </a:spcAft>
              <a:buChar char="•"/>
            </a:pPr>
            <a:r>
              <a:rPr b="1" sz="1600">
                <a:solidFill>
                  <a:srgbClr val="004382"/>
                </a:solidFill>
                <a:latin typeface="Calibri"/>
              </a:rPr>
              <a:t>Combinar </a:t>
            </a:r>
            <a:r>
              <a:rPr sz="1600">
                <a:solidFill>
                  <a:srgbClr val="333333"/>
                </a:solidFill>
                <a:latin typeface="Calibri"/>
              </a:rPr>
              <a:t>operadores lógicos (AND, OR, NOT).</a:t>
            </a:r>
          </a:p>
          <a:p>
            <a:pPr>
              <a:spcAft>
                <a:spcPts val="600"/>
              </a:spcAft>
              <a:buChar char="•"/>
            </a:pPr>
            <a:r>
              <a:rPr b="1" sz="1600">
                <a:solidFill>
                  <a:srgbClr val="004382"/>
                </a:solidFill>
                <a:latin typeface="Calibri"/>
              </a:rPr>
              <a:t>Compreender </a:t>
            </a:r>
            <a:r>
              <a:rPr sz="1600">
                <a:solidFill>
                  <a:srgbClr val="333333"/>
                </a:solidFill>
                <a:latin typeface="Calibri"/>
              </a:rPr>
              <a:t>a precedência de operadores.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Situação de Aprendizagem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ED8B00"/>
                </a:solidFill>
                <a:latin typeface="Calibri"/>
              </a:rPr>
              <a:t>AÇÃO - Desafio Inicial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828800"/>
            <a:ext cx="73152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000" b="1" i="0">
                <a:solidFill>
                  <a:srgbClr val="004382"/>
                </a:solidFill>
                <a:latin typeface="Calibri"/>
              </a:rPr>
              <a:t>Vocês conseguem criar uma
calculadora usando apenas
o que já aprendemos?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 i="1">
                <a:solidFill>
                  <a:srgbClr val="666666"/>
                </a:solidFill>
                <a:latin typeface="Calibri"/>
              </a:rPr>
              <a:t>Leia dois números e uma operação, mostre o resultado!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" y="502920"/>
            <a:ext cx="6400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004382"/>
                </a:solidFill>
                <a:latin typeface="Calibri"/>
              </a:rPr>
              <a:t>Reflexão sobre o Desafio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143000"/>
            <a:ext cx="6400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D8B00"/>
                </a:solidFill>
                <a:latin typeface="Calibri"/>
              </a:rPr>
              <a:t>VAMOS PENSAR JUNTOS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28800"/>
            <a:ext cx="7315200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Que operações uma calculadora faz?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Soma, subtração, multiplicação, divisão...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E se dividir por zero?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Vamos aprender os operadores!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Conteúdo Teórico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ED8B00"/>
                </a:solidFill>
                <a:latin typeface="Calibri"/>
              </a:rPr>
              <a:t>REFLEXÃO - Fundamentação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" y="502920"/>
            <a:ext cx="6400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004382"/>
                </a:solidFill>
                <a:latin typeface="Calibri"/>
              </a:rPr>
              <a:t>Operadores Aritméticos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143000"/>
            <a:ext cx="6400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D8B00"/>
                </a:solidFill>
                <a:latin typeface="Calibri"/>
              </a:rPr>
              <a:t>MATEMÁTICA EM 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28800"/>
            <a:ext cx="7315200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  <a:buChar char="•"/>
            </a:pPr>
            <a:r>
              <a:rPr b="1" sz="1600">
                <a:solidFill>
                  <a:srgbClr val="004382"/>
                </a:solidFill>
                <a:latin typeface="Calibri"/>
              </a:rPr>
              <a:t>+  Soma: </a:t>
            </a:r>
            <a:r>
              <a:rPr sz="1600">
                <a:solidFill>
                  <a:srgbClr val="333333"/>
                </a:solidFill>
                <a:latin typeface="Calibri"/>
              </a:rPr>
              <a:t>10 + 3 = 13</a:t>
            </a:r>
          </a:p>
          <a:p>
            <a:pPr>
              <a:spcAft>
                <a:spcPts val="600"/>
              </a:spcAft>
              <a:buChar char="•"/>
            </a:pPr>
            <a:r>
              <a:rPr b="1" sz="1600">
                <a:solidFill>
                  <a:srgbClr val="004382"/>
                </a:solidFill>
                <a:latin typeface="Calibri"/>
              </a:rPr>
              <a:t>-  Subtração: </a:t>
            </a:r>
            <a:r>
              <a:rPr sz="1600">
                <a:solidFill>
                  <a:srgbClr val="333333"/>
                </a:solidFill>
                <a:latin typeface="Calibri"/>
              </a:rPr>
              <a:t>10 - 3 = 7</a:t>
            </a:r>
          </a:p>
          <a:p>
            <a:pPr>
              <a:spcAft>
                <a:spcPts val="600"/>
              </a:spcAft>
              <a:buChar char="•"/>
            </a:pPr>
            <a:r>
              <a:rPr b="1" sz="1600">
                <a:solidFill>
                  <a:srgbClr val="004382"/>
                </a:solidFill>
                <a:latin typeface="Calibri"/>
              </a:rPr>
              <a:t>*  Multiplicação: </a:t>
            </a:r>
            <a:r>
              <a:rPr sz="1600">
                <a:solidFill>
                  <a:srgbClr val="333333"/>
                </a:solidFill>
                <a:latin typeface="Calibri"/>
              </a:rPr>
              <a:t>10 * 3 = 30</a:t>
            </a:r>
          </a:p>
          <a:p>
            <a:pPr>
              <a:spcAft>
                <a:spcPts val="600"/>
              </a:spcAft>
              <a:buChar char="•"/>
            </a:pPr>
            <a:r>
              <a:rPr b="1" sz="1600">
                <a:solidFill>
                  <a:srgbClr val="004382"/>
                </a:solidFill>
                <a:latin typeface="Calibri"/>
              </a:rPr>
              <a:t>/  Divisão: </a:t>
            </a:r>
            <a:r>
              <a:rPr sz="1600">
                <a:solidFill>
                  <a:srgbClr val="333333"/>
                </a:solidFill>
                <a:latin typeface="Calibri"/>
              </a:rPr>
              <a:t>10 / 3 = 3 (inteiros!) | 10.0 / 3 = 3.333</a:t>
            </a:r>
          </a:p>
          <a:p>
            <a:pPr>
              <a:spcAft>
                <a:spcPts val="600"/>
              </a:spcAft>
              <a:buChar char="•"/>
            </a:pPr>
            <a:r>
              <a:rPr b="1" sz="1600">
                <a:solidFill>
                  <a:srgbClr val="004382"/>
                </a:solidFill>
                <a:latin typeface="Calibri"/>
              </a:rPr>
              <a:t>%  Módulo: </a:t>
            </a:r>
            <a:r>
              <a:rPr sz="1600">
                <a:solidFill>
                  <a:srgbClr val="333333"/>
                </a:solidFill>
                <a:latin typeface="Calibri"/>
              </a:rPr>
              <a:t>10 % 3 = 1</a:t>
            </a:r>
          </a:p>
          <a:p>
            <a:pPr>
              <a:spcAft>
                <a:spcPts val="600"/>
              </a:spcAft>
              <a:buChar char="•"/>
            </a:pPr>
            <a:r>
              <a:rPr b="1" sz="1600">
                <a:solidFill>
                  <a:srgbClr val="004382"/>
                </a:solidFill>
                <a:latin typeface="Calibri"/>
              </a:rPr>
              <a:t>++/-- : </a:t>
            </a:r>
            <a:r>
              <a:rPr sz="1600">
                <a:solidFill>
                  <a:srgbClr val="333333"/>
                </a:solidFill>
                <a:latin typeface="Calibri"/>
              </a:rPr>
              <a:t>Incremento e decremento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" y="502920"/>
            <a:ext cx="6400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004382"/>
                </a:solidFill>
                <a:latin typeface="Calibri"/>
              </a:rPr>
              <a:t>Operadores Relacionais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143000"/>
            <a:ext cx="6400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D8B00"/>
                </a:solidFill>
                <a:latin typeface="Calibri"/>
              </a:rPr>
              <a:t>COMPARAÇÕES (true OU false)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28800"/>
            <a:ext cx="7315200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  <a:buChar char="•"/>
            </a:pPr>
            <a:r>
              <a:rPr b="1" sz="1600">
                <a:solidFill>
                  <a:srgbClr val="004382"/>
                </a:solidFill>
                <a:latin typeface="Calibri"/>
              </a:rPr>
              <a:t>==  Igual: </a:t>
            </a:r>
            <a:r>
              <a:rPr sz="1600">
                <a:solidFill>
                  <a:srgbClr val="333333"/>
                </a:solidFill>
                <a:latin typeface="Calibri"/>
              </a:rPr>
              <a:t>5 == 5 → true</a:t>
            </a:r>
          </a:p>
          <a:p>
            <a:pPr>
              <a:spcAft>
                <a:spcPts val="600"/>
              </a:spcAft>
              <a:buChar char="•"/>
            </a:pPr>
            <a:r>
              <a:rPr b="1" sz="1600">
                <a:solidFill>
                  <a:srgbClr val="004382"/>
                </a:solidFill>
                <a:latin typeface="Calibri"/>
              </a:rPr>
              <a:t>!=  Diferente: </a:t>
            </a:r>
            <a:r>
              <a:rPr sz="1600">
                <a:solidFill>
                  <a:srgbClr val="333333"/>
                </a:solidFill>
                <a:latin typeface="Calibri"/>
              </a:rPr>
              <a:t>5 != 3 → true</a:t>
            </a:r>
          </a:p>
          <a:p>
            <a:pPr>
              <a:spcAft>
                <a:spcPts val="600"/>
              </a:spcAft>
              <a:buChar char="•"/>
            </a:pPr>
            <a:r>
              <a:rPr b="1" sz="1600">
                <a:solidFill>
                  <a:srgbClr val="004382"/>
                </a:solidFill>
                <a:latin typeface="Calibri"/>
              </a:rPr>
              <a:t>&gt;   Maior: </a:t>
            </a:r>
            <a:r>
              <a:rPr sz="1600">
                <a:solidFill>
                  <a:srgbClr val="333333"/>
                </a:solidFill>
                <a:latin typeface="Calibri"/>
              </a:rPr>
              <a:t>5 &gt; 3 → true</a:t>
            </a:r>
          </a:p>
          <a:p>
            <a:pPr>
              <a:spcAft>
                <a:spcPts val="600"/>
              </a:spcAft>
              <a:buChar char="•"/>
            </a:pPr>
            <a:r>
              <a:rPr b="1" sz="1600">
                <a:solidFill>
                  <a:srgbClr val="004382"/>
                </a:solidFill>
                <a:latin typeface="Calibri"/>
              </a:rPr>
              <a:t>&lt;   Menor: </a:t>
            </a:r>
            <a:r>
              <a:rPr sz="1600">
                <a:solidFill>
                  <a:srgbClr val="333333"/>
                </a:solidFill>
                <a:latin typeface="Calibri"/>
              </a:rPr>
              <a:t>5 &lt; 3 → false</a:t>
            </a:r>
          </a:p>
          <a:p>
            <a:pPr>
              <a:spcAft>
                <a:spcPts val="600"/>
              </a:spcAft>
              <a:buChar char="•"/>
            </a:pPr>
            <a:r>
              <a:rPr b="1" sz="1600">
                <a:solidFill>
                  <a:srgbClr val="004382"/>
                </a:solidFill>
                <a:latin typeface="Calibri"/>
              </a:rPr>
              <a:t>&gt;=  Maior ou igual</a:t>
            </a:r>
            <a:r>
              <a:rPr sz="160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  <a:buChar char="•"/>
            </a:pPr>
            <a:r>
              <a:rPr b="1" sz="1600">
                <a:solidFill>
                  <a:srgbClr val="004382"/>
                </a:solidFill>
                <a:latin typeface="Calibri"/>
              </a:rPr>
              <a:t>Atenção: </a:t>
            </a:r>
            <a:r>
              <a:rPr sz="1600">
                <a:solidFill>
                  <a:srgbClr val="333333"/>
                </a:solidFill>
                <a:latin typeface="Calibri"/>
              </a:rPr>
              <a:t>Para Strings, use .equals()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" y="502920"/>
            <a:ext cx="6400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004382"/>
                </a:solidFill>
                <a:latin typeface="Calibri"/>
              </a:rPr>
              <a:t>Operadores Lógicos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143000"/>
            <a:ext cx="6400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D8B00"/>
                </a:solidFill>
                <a:latin typeface="Calibri"/>
              </a:rPr>
              <a:t>COMBINANDO CONDIÇÕES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28800"/>
            <a:ext cx="7315200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  <a:buChar char="•"/>
            </a:pPr>
            <a:r>
              <a:rPr b="1" sz="1600">
                <a:solidFill>
                  <a:srgbClr val="004382"/>
                </a:solidFill>
                <a:latin typeface="Calibri"/>
              </a:rPr>
              <a:t>&amp;&amp;  E (AND): </a:t>
            </a:r>
            <a:r>
              <a:rPr sz="1600">
                <a:solidFill>
                  <a:srgbClr val="333333"/>
                </a:solidFill>
                <a:latin typeface="Calibri"/>
              </a:rPr>
              <a:t>Ambas verdadeiras.</a:t>
            </a:r>
          </a:p>
          <a:p>
            <a:pPr>
              <a:spcAft>
                <a:spcPts val="600"/>
              </a:spcAft>
              <a:buChar char="•"/>
            </a:pPr>
            <a:r>
              <a:rPr b="1" sz="1600">
                <a:solidFill>
                  <a:srgbClr val="004382"/>
                </a:solidFill>
                <a:latin typeface="Calibri"/>
              </a:rPr>
              <a:t>||  OU (OR): </a:t>
            </a:r>
            <a:r>
              <a:rPr sz="1600">
                <a:solidFill>
                  <a:srgbClr val="333333"/>
                </a:solidFill>
                <a:latin typeface="Calibri"/>
              </a:rPr>
              <a:t>Pelo menos uma verdadeira.</a:t>
            </a:r>
          </a:p>
          <a:p>
            <a:pPr>
              <a:spcAft>
                <a:spcPts val="600"/>
              </a:spcAft>
              <a:buChar char="•"/>
            </a:pPr>
            <a:r>
              <a:rPr b="1" sz="1600">
                <a:solidFill>
                  <a:srgbClr val="004382"/>
                </a:solidFill>
                <a:latin typeface="Calibri"/>
              </a:rPr>
              <a:t>!   NÃO (NOT): </a:t>
            </a:r>
            <a:r>
              <a:rPr sz="1600">
                <a:solidFill>
                  <a:srgbClr val="333333"/>
                </a:solidFill>
                <a:latin typeface="Calibri"/>
              </a:rPr>
              <a:t>Inverte o valor.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Exemplo: idade &gt;= 18 &amp;&amp; temCNH == true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" y="502920"/>
            <a:ext cx="6400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004382"/>
                </a:solidFill>
                <a:latin typeface="Calibri"/>
              </a:rPr>
              <a:t>Precedência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143000"/>
            <a:ext cx="6400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D8B00"/>
                </a:solidFill>
                <a:latin typeface="Calibri"/>
              </a:rPr>
              <a:t>ORDEM DE EXECUÇÃO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28800"/>
            <a:ext cx="7315200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1. Parênteses ()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2. Unários: !, ++, --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3. *, /, %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4. +, -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5. Relacionais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6. Lógicos</a:t>
            </a:r>
          </a:p>
          <a:p>
            <a:pPr>
              <a:spcAft>
                <a:spcPts val="600"/>
              </a:spcAft>
              <a:buChar char="•"/>
            </a:pPr>
            <a:r>
              <a:rPr b="1" sz="1600">
                <a:solidFill>
                  <a:srgbClr val="004382"/>
                </a:solidFill>
                <a:latin typeface="Calibri"/>
              </a:rPr>
              <a:t>Dica: </a:t>
            </a:r>
            <a:r>
              <a:rPr sz="1600">
                <a:solidFill>
                  <a:srgbClr val="333333"/>
                </a:solidFill>
                <a:latin typeface="Calibri"/>
              </a:rPr>
              <a:t>Na dúvida, use parênteses!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Atividade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ED8B00"/>
                </a:solidFill>
                <a:latin typeface="Calibri"/>
              </a:rPr>
              <a:t>NOVA AÇÃO - Aplicação do Conhecimento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" y="502920"/>
            <a:ext cx="6400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004382"/>
                </a:solidFill>
                <a:latin typeface="Calibri"/>
              </a:rPr>
              <a:t>Calculadora 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143000"/>
            <a:ext cx="6400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D8B00"/>
                </a:solidFill>
                <a:latin typeface="Calibri"/>
              </a:rPr>
              <a:t>ATIVIDADE PRÁTICA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28800"/>
            <a:ext cx="7315200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Crie programa que: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  1. Leia dois números (double)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  2. Leia operação (+, -, *, /)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  3. Calcule e exiba resultado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  4. Mostre se resultado é positivo ou negativo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Desafio: verifique divisão por zero.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Tempo: 40 minutos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" y="502920"/>
            <a:ext cx="6400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004382"/>
                </a:solidFill>
                <a:latin typeface="Calibri"/>
              </a:rPr>
              <a:t>Resumo da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143000"/>
            <a:ext cx="6400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D8B00"/>
                </a:solidFill>
                <a:latin typeface="Calibri"/>
              </a:rPr>
              <a:t>O QUE APRENDEMOS HOJE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28800"/>
            <a:ext cx="7315200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Aritméticos: +, -, *, /, % (atenção divisão inteira!)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Relacionais comparam e retornam boolean.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Lógicos combinam condições: &amp;&amp;, ||, !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Parênteses controlam a ordem.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Strings: use .equals(), não ==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" y="502920"/>
            <a:ext cx="6400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004382"/>
                </a:solidFill>
                <a:latin typeface="Calibri"/>
              </a:rPr>
              <a:t>Próxima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143000"/>
            <a:ext cx="6400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D8B00"/>
                </a:solidFill>
                <a:latin typeface="Calibri"/>
              </a:rPr>
              <a:t>PREPARE-SE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28800"/>
            <a:ext cx="7315200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Aula 06: Estruturas de Controle — if/else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Ensinar o programa a tomar decisões!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Lembrem dos fluxogramas com losangos!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371600"/>
            <a:ext cx="64008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5486400"/>
            <a:ext cx="6858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ED8B00"/>
                </a:solidFill>
                <a:latin typeface="Calibri"/>
              </a:rPr>
              <a:t>sc.senac.br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83AD36F74984E4C83EABABA42430AEF" ma:contentTypeVersion="3" ma:contentTypeDescription="Crie um novo documento." ma:contentTypeScope="" ma:versionID="bdab33ee89558bf29d82415e2b345454">
  <xsd:schema xmlns:xsd="http://www.w3.org/2001/XMLSchema" xmlns:xs="http://www.w3.org/2001/XMLSchema" xmlns:p="http://schemas.microsoft.com/office/2006/metadata/properties" xmlns:ns2="49d84168-217c-43eb-a13d-f6f391da8223" targetNamespace="http://schemas.microsoft.com/office/2006/metadata/properties" ma:root="true" ma:fieldsID="20eb942400b5f8426e28c99a637d8a7e" ns2:_="">
    <xsd:import namespace="49d84168-217c-43eb-a13d-f6f391da822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84168-217c-43eb-a13d-f6f391da82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41029BD-912D-45DA-87AF-D8470E1D6C74}"/>
</file>

<file path=customXml/itemProps2.xml><?xml version="1.0" encoding="utf-8"?>
<ds:datastoreItem xmlns:ds="http://schemas.openxmlformats.org/officeDocument/2006/customXml" ds:itemID="{F0B7EBA7-8FA1-4063-B64D-56EFE689E93B}"/>
</file>

<file path=customXml/itemProps3.xml><?xml version="1.0" encoding="utf-8"?>
<ds:datastoreItem xmlns:ds="http://schemas.openxmlformats.org/officeDocument/2006/customXml" ds:itemID="{9F455E41-07D7-443E-A500-D983958D34E7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0x010100483AD36F74984E4C83EABABA42430AEF</vt:lpwstr>
  </property>
</Properties>
</file>
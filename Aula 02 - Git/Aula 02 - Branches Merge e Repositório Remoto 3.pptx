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9D0279-A843-4856-ACAF-6BDEF15C922D}" v="10" dt="2026-04-29T22:53:37.7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Relationship Id="rId27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6565392"/>
            <a:ext cx="1164305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274320"/>
            <a:ext cx="25400" cy="630936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899087" y="274320"/>
            <a:ext cx="25400" cy="630936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695" y="274320"/>
            <a:ext cx="4114800" cy="6217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371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ED8B00"/>
                </a:solidFill>
                <a:latin typeface="Calibri"/>
              </a:rPr>
              <a:t>Branches, Merge e
Repositório Remoto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Calibri"/>
              </a:rPr>
              <a:t>Módulo 03 - Git e GitHub: Controle de Versão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Aula 02 de 03 | 4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Agenda da Aula 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O QUE VAMOS APRENDER HOJE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2D3436"/>
                </a:solidFill>
                <a:latin typeface="Calibri"/>
              </a:rPr>
              <a:t>O que são branches e por que usar?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2D3436"/>
                </a:solidFill>
                <a:latin typeface="Calibri"/>
              </a:rPr>
              <a:t>Criando e navegando entre branches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2D3436"/>
                </a:solidFill>
                <a:latin typeface="Calibri"/>
              </a:rPr>
              <a:t>Nomenclatura padrão de branches (feature, bugfix, hotfix...)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2D3436"/>
                </a:solidFill>
                <a:latin typeface="Calibri"/>
              </a:rPr>
              <a:t>Merge: Fast-Forward vs 3-Way Merge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2D3436"/>
                </a:solidFill>
                <a:latin typeface="Calibri"/>
              </a:rPr>
              <a:t>Resolução de conflitos de merge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2D3436"/>
                </a:solidFill>
                <a:latin typeface="Calibri"/>
              </a:rPr>
              <a:t>Repositório local vs remoto — entendendo a diferença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2D3436"/>
                </a:solidFill>
                <a:latin typeface="Calibri"/>
              </a:rPr>
              <a:t>GitHub: push, pull, fetch e branches remotas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2D3436"/>
                </a:solidFill>
                <a:latin typeface="Calibri"/>
              </a:rPr>
              <a:t>Atividade prática: workflow com branches em duplas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O Problema sem Branches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TODOS NO MESMO CAMINHO — CAOS GARANTIDO</a:t>
            </a:r>
          </a:p>
        </p:txBody>
      </p:sp>
      <p:pic>
        <p:nvPicPr>
          <p:cNvPr id="14" name="Picture 13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943600" cy="4572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583680" y="1645920"/>
            <a:ext cx="5029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0" y="1645920"/>
            <a:ext cx="54864" cy="914400"/>
          </a:xfrm>
          <a:prstGeom prst="rect">
            <a:avLst/>
          </a:prstGeom>
          <a:solidFill>
            <a:srgbClr val="E17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1228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17055"/>
                </a:solidFill>
                <a:latin typeface="Calibri"/>
              </a:rPr>
              <a:t>Sobrescrita de código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36E72"/>
                </a:solidFill>
                <a:latin typeface="Calibri"/>
              </a:rPr>
              <a:t>Commits de um dev sobrepoem os de outro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788920"/>
            <a:ext cx="5029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0" y="2788920"/>
            <a:ext cx="54864" cy="914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D8B00"/>
                </a:solidFill>
                <a:latin typeface="Calibri"/>
              </a:rPr>
              <a:t>Build constantemente quebrado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36E72"/>
                </a:solidFill>
                <a:latin typeface="Calibri"/>
              </a:rPr>
              <a:t>Código incompleto misturado com produção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931920"/>
            <a:ext cx="5029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80" y="3931920"/>
            <a:ext cx="54864" cy="9144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12280" y="40233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4382"/>
                </a:solidFill>
                <a:latin typeface="Calibri"/>
              </a:rPr>
              <a:t>Impossível testar isoladamente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36E72"/>
                </a:solidFill>
                <a:latin typeface="Calibri"/>
              </a:rPr>
              <a:t>Não dá pra validar uma feature sem afetar outra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5074920"/>
            <a:ext cx="5029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83680" y="5074920"/>
            <a:ext cx="54864" cy="914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12280" y="51663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C5CE7"/>
                </a:solidFill>
                <a:latin typeface="Calibri"/>
              </a:rPr>
              <a:t>Reversão é um pesadelo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5532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36E72"/>
                </a:solidFill>
                <a:latin typeface="Calibri"/>
              </a:rPr>
              <a:t>Desfazer uma feature exige mexer em tudo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O que é uma Branch?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LINHAS PARALELAS DE DESENVOLVIMENTO</a:t>
            </a:r>
          </a:p>
        </p:txBody>
      </p:sp>
      <p:pic>
        <p:nvPicPr>
          <p:cNvPr id="13" name="Picture 12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12880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36E72"/>
                </a:solidFill>
                <a:latin typeface="Calibri"/>
              </a:rPr>
              <a:t>Uma branch é um ponteiro móvel para um commit. Criar uma branch é barato e rápido no Git — custa apenas 41 bytes!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Criando e Navegando Branches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COMANDOS ESSENCIAIS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554480"/>
            <a:ext cx="5486400" cy="47548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1691639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636E72"/>
                </a:solidFill>
                <a:latin typeface="Consolas"/>
              </a:rPr>
              <a:t># Listar branches existentes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>git branch</a:t>
            </a:r>
          </a:p>
          <a:p>
            <a:pPr>
              <a:spcAft>
                <a:spcPts val="200"/>
              </a:spcAft>
            </a:pPr>
            <a:endParaRPr sz="13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36E72"/>
                </a:solidFill>
                <a:latin typeface="Consolas"/>
              </a:rPr>
              <a:t># Criar nova branch (sem mudar para ela)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>git branch feature/login</a:t>
            </a:r>
          </a:p>
          <a:p>
            <a:pPr>
              <a:spcAft>
                <a:spcPts val="200"/>
              </a:spcAft>
            </a:pPr>
            <a:endParaRPr sz="13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36E72"/>
                </a:solidFill>
                <a:latin typeface="Consolas"/>
              </a:rPr>
              <a:t># Criar e mudar para nova branch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>git switch -c feature/login</a:t>
            </a:r>
          </a:p>
          <a:p>
            <a:pPr>
              <a:spcAft>
                <a:spcPts val="200"/>
              </a:spcAft>
            </a:pPr>
            <a:endParaRPr sz="13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36E72"/>
                </a:solidFill>
                <a:latin typeface="Consolas"/>
              </a:rPr>
              <a:t># Mudar para branch existente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>git switch main</a:t>
            </a:r>
          </a:p>
          <a:p>
            <a:pPr>
              <a:spcAft>
                <a:spcPts val="200"/>
              </a:spcAft>
            </a:pPr>
            <a:endParaRPr sz="13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36E72"/>
                </a:solidFill>
                <a:latin typeface="Consolas"/>
              </a:rPr>
              <a:t># Mudar para branch existente (alternativo)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>git checkout main</a:t>
            </a:r>
          </a:p>
          <a:p>
            <a:pPr>
              <a:spcAft>
                <a:spcPts val="200"/>
              </a:spcAft>
            </a:pPr>
            <a:endParaRPr sz="13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36E72"/>
                </a:solidFill>
                <a:latin typeface="Consolas"/>
              </a:rPr>
              <a:t># Ver todas as branches (locais e remotas)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>git branch -a</a:t>
            </a:r>
          </a:p>
          <a:p>
            <a:pPr>
              <a:spcAft>
                <a:spcPts val="200"/>
              </a:spcAft>
            </a:pPr>
            <a:endParaRPr sz="13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36E72"/>
                </a:solidFill>
                <a:latin typeface="Consolas"/>
              </a:rPr>
              <a:t># Renomear branch atual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>git branch -m novo-nome</a:t>
            </a:r>
          </a:p>
        </p:txBody>
      </p:sp>
      <p:pic>
        <p:nvPicPr>
          <p:cNvPr id="16" name="Picture 15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Nomenclatura de Branches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PADRÕES PROFISSIONAIS DE NOMEAÇÃO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554480"/>
            <a:ext cx="10972800" cy="50292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16276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Prefixo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Quando Usar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627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Exemplo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240280"/>
            <a:ext cx="10972800" cy="640080"/>
          </a:xfrm>
          <a:prstGeom prst="rect">
            <a:avLst/>
          </a:prstGeom>
          <a:solidFill>
            <a:srgbClr val="F0F4F8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" y="2350008"/>
            <a:ext cx="1371600" cy="36576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2368296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feature/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395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Nova funcionalidade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395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36E72"/>
                </a:solidFill>
                <a:latin typeface="Calibri"/>
              </a:rPr>
              <a:t>feature/tela-login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017520"/>
            <a:ext cx="10972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1520" y="3127248"/>
            <a:ext cx="1371600" cy="365760"/>
          </a:xfrm>
          <a:prstGeom prst="round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3145536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bugfix/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1729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Correção de bug não urgente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1729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36E72"/>
                </a:solidFill>
                <a:latin typeface="Calibri"/>
              </a:rPr>
              <a:t>bugfix/calculo-desconto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794760"/>
            <a:ext cx="10972800" cy="640080"/>
          </a:xfrm>
          <a:prstGeom prst="rect">
            <a:avLst/>
          </a:prstGeom>
          <a:solidFill>
            <a:srgbClr val="F0F4F8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31520" y="3904488"/>
            <a:ext cx="1371600" cy="365760"/>
          </a:xfrm>
          <a:prstGeom prst="roundRect">
            <a:avLst/>
          </a:prstGeom>
          <a:solidFill>
            <a:srgbClr val="E17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3922776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hotfix/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9502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Correção urgente em produção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9502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36E72"/>
                </a:solidFill>
                <a:latin typeface="Calibri"/>
              </a:rPr>
              <a:t>hotfix/crash-pagamento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572000"/>
            <a:ext cx="10972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31520" y="4681728"/>
            <a:ext cx="1371600" cy="365760"/>
          </a:xfrm>
          <a:prstGeom prst="round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4700016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release/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47274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Preparação de release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7274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36E72"/>
                </a:solidFill>
                <a:latin typeface="Calibri"/>
              </a:rPr>
              <a:t>release/v2.1.0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349240"/>
            <a:ext cx="10972800" cy="640080"/>
          </a:xfrm>
          <a:prstGeom prst="rect">
            <a:avLst/>
          </a:prstGeom>
          <a:solidFill>
            <a:srgbClr val="F0F4F8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31520" y="5458968"/>
            <a:ext cx="1371600" cy="365760"/>
          </a:xfrm>
          <a:prstGeom prst="round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5477255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chore/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55046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Manutenção, configs, CI/CD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5046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36E72"/>
                </a:solidFill>
                <a:latin typeface="Calibri"/>
              </a:rPr>
              <a:t>chore/atualiza-deps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48640" y="6126480"/>
            <a:ext cx="54864" cy="4572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7240" y="61904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B894"/>
                </a:solidFill>
                <a:latin typeface="Calibri"/>
              </a:rPr>
              <a:t>Dica: Use sempre letras minúsculas e hífens como separadores. Evite espacos e caracteres especiais.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Merge Fast-Forward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QUANDO NÃO HÁ DIVERGÊNCIA</a:t>
            </a:r>
          </a:p>
        </p:txBody>
      </p:sp>
      <p:pic>
        <p:nvPicPr>
          <p:cNvPr id="13" name="Picture 12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Merge 3-Way (Merge Commit)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QUANDO HÁ DIVERGÊNCIA ENTRE AS BRANCHES</a:t>
            </a:r>
          </a:p>
        </p:txBody>
      </p:sp>
      <p:pic>
        <p:nvPicPr>
          <p:cNvPr id="13" name="Picture 12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Conflitos de Merge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QUANDO DOIS DEVS ALTERAM A MESMA LINHA</a:t>
            </a:r>
          </a:p>
        </p:txBody>
      </p:sp>
      <p:pic>
        <p:nvPicPr>
          <p:cNvPr id="14" name="Picture 13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20116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389120" y="1371600"/>
            <a:ext cx="7132320" cy="30175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1508760"/>
            <a:ext cx="676655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636E72"/>
                </a:solidFill>
                <a:latin typeface="Consolas"/>
              </a:rPr>
              <a:t># Marcadores de conflito no arquivo:</a:t>
            </a:r>
          </a:p>
          <a:p>
            <a:pPr>
              <a:spcAft>
                <a:spcPts val="200"/>
              </a:spcAft>
            </a:pPr>
            <a:endParaRPr sz="1200">
              <a:solidFill>
                <a:srgbClr val="636E7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17055"/>
                </a:solidFill>
                <a:latin typeface="Consolas"/>
              </a:rPr>
              <a:t>&lt;&lt;&lt;&lt;&lt;&lt;&lt; HEAD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public double calcularDesconto(double valor) {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    return valor * 0.10;  // 10% desconto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17055"/>
                </a:solidFill>
                <a:latin typeface="Consolas"/>
              </a:rPr>
              <a:t>=======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public double calcularDesconto(double valor) {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    return valor * 0.15;  // 15% desconto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17055"/>
                </a:solidFill>
                <a:latin typeface="Consolas"/>
              </a:rPr>
              <a:t>&gt;&gt;&gt;&gt;&gt;&gt;&gt; feature/promocao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663440"/>
            <a:ext cx="365760" cy="365760"/>
          </a:xfrm>
          <a:prstGeom prst="ellipse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681727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70915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Identifique os marcadores &lt;&lt;&lt;&lt;&lt;&lt;&lt;, =======, &gt;&gt;&gt;&gt;&gt;&gt;&gt;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166359"/>
            <a:ext cx="365760" cy="36576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184647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1207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Escolha qual versão manter (ou combine ambas)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669279"/>
            <a:ext cx="365760" cy="365760"/>
          </a:xfrm>
          <a:prstGeom prst="ellipse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687567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71499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Remova os marcadores de conflito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6172200"/>
            <a:ext cx="365760" cy="36576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619048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Salve o arquivo, faça git add e git commit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Repositório Local vs Remoto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ENTENDENDO A CONEXÃO</a:t>
            </a:r>
          </a:p>
        </p:txBody>
      </p:sp>
      <p:pic>
        <p:nvPicPr>
          <p:cNvPr id="13" name="Picture 12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GitHub — Criando Repositório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CONECTANDO LOCAL AO REMOTO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161848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3436"/>
                </a:solidFill>
                <a:latin typeface="Calibri"/>
              </a:rPr>
              <a:t>Crie uma conta em github.com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350008"/>
            <a:ext cx="365760" cy="36576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368296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395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3436"/>
                </a:solidFill>
                <a:latin typeface="Calibri"/>
              </a:rPr>
              <a:t>Clique em 'New repository'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3099815"/>
            <a:ext cx="365760" cy="365760"/>
          </a:xfrm>
          <a:prstGeom prst="ellipse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118103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14553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3436"/>
                </a:solidFill>
                <a:latin typeface="Calibri"/>
              </a:rPr>
              <a:t>Escolha nome, descrição e visibilidade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3849624"/>
            <a:ext cx="365760" cy="365760"/>
          </a:xfrm>
          <a:prstGeom prst="ellipse">
            <a:avLst/>
          </a:prstGeom>
          <a:solidFill>
            <a:srgbClr val="E17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86791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89534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3436"/>
                </a:solidFill>
                <a:latin typeface="Calibri"/>
              </a:rPr>
              <a:t>NÃO inicialize com README (se já tem repo local)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599431"/>
            <a:ext cx="365760" cy="36576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46177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64515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3436"/>
                </a:solidFill>
                <a:latin typeface="Calibri"/>
              </a:rPr>
              <a:t>Copie a URL do repositório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5349240"/>
            <a:ext cx="365760" cy="365760"/>
          </a:xfrm>
          <a:prstGeom prst="ellipse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536752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3949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3436"/>
                </a:solidFill>
                <a:latin typeface="Calibri"/>
              </a:rPr>
              <a:t>Conecte o repo local ao remoto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0" y="1554480"/>
            <a:ext cx="5760720" cy="47548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0" y="1691639"/>
            <a:ext cx="539495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636E72"/>
                </a:solidFill>
                <a:latin typeface="Consolas"/>
              </a:rPr>
              <a:t># Adicionar repositório remoto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git remote add origin https://github.com/user/repo.git</a:t>
            </a:r>
          </a:p>
          <a:p>
            <a:pPr>
              <a:spcAft>
                <a:spcPts val="200"/>
              </a:spcAft>
            </a:pPr>
            <a:endParaRPr sz="12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636E72"/>
                </a:solidFill>
                <a:latin typeface="Consolas"/>
              </a:rPr>
              <a:t># Verificar remotos configurados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git remote -v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636E72"/>
                </a:solidFill>
                <a:latin typeface="Consolas"/>
              </a:rPr>
              <a:t># origin  https://github.com/user/repo.git (fetch)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636E72"/>
                </a:solidFill>
                <a:latin typeface="Consolas"/>
              </a:rPr>
              <a:t># origin  https://github.com/user/repo.git (push)</a:t>
            </a:r>
          </a:p>
          <a:p>
            <a:pPr>
              <a:spcAft>
                <a:spcPts val="200"/>
              </a:spcAft>
            </a:pPr>
            <a:endParaRPr sz="1200">
              <a:solidFill>
                <a:srgbClr val="636E7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636E72"/>
                </a:solidFill>
                <a:latin typeface="Consolas"/>
              </a:rPr>
              <a:t># Primeiro push (define upstream)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git push -u origin main</a:t>
            </a:r>
          </a:p>
          <a:p>
            <a:pPr>
              <a:spcAft>
                <a:spcPts val="200"/>
              </a:spcAft>
            </a:pPr>
            <a:endParaRPr sz="12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636E72"/>
                </a:solidFill>
                <a:latin typeface="Consolas"/>
              </a:rPr>
              <a:t># Clonar repositório existente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git clone https://github.com/user/repo.git</a:t>
            </a:r>
          </a:p>
          <a:p>
            <a:pPr>
              <a:spcAft>
                <a:spcPts val="200"/>
              </a:spcAft>
            </a:pPr>
            <a:endParaRPr sz="12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636E72"/>
                </a:solidFill>
                <a:latin typeface="Consolas"/>
              </a:rPr>
              <a:t># Remover remoto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git remote remove origin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Push, Pull e Fetch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SINCRONIZANDO LOCAL E REMOTO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54480"/>
            <a:ext cx="35661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554480"/>
            <a:ext cx="54864" cy="475488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1554480"/>
            <a:ext cx="3566160" cy="64008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16642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PUSH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D8B00"/>
                </a:solidFill>
                <a:latin typeface="Calibri"/>
              </a:rPr>
              <a:t>LOCAL -&gt; REMOTO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34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Envia commits locais para o remoto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383280"/>
            <a:ext cx="329184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4930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B894"/>
                </a:solidFill>
                <a:latin typeface="Calibri"/>
              </a:rPr>
              <a:t>git push origin main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554480"/>
            <a:ext cx="35661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97680" y="1554480"/>
            <a:ext cx="54864" cy="475488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7680" y="1554480"/>
            <a:ext cx="3566160" cy="64008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0560" y="16642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PULL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82"/>
                </a:solidFill>
                <a:latin typeface="Calibri"/>
              </a:rPr>
              <a:t>REMOTO -&gt; LOCAL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834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Baixa e integra mudanças do remoto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383280"/>
            <a:ext cx="329184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0" y="34930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B894"/>
                </a:solidFill>
                <a:latin typeface="Calibri"/>
              </a:rPr>
              <a:t>git pull origin main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1554480"/>
            <a:ext cx="35661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38160" y="1554480"/>
            <a:ext cx="54864" cy="47548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38160" y="1554480"/>
            <a:ext cx="3566160" cy="6400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40" y="16642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FETCH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B894"/>
                </a:solidFill>
                <a:latin typeface="Calibri"/>
              </a:rPr>
              <a:t>REMOTO -&gt; LOCAL (staging)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834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Baixa mudanças sem integrar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3383280"/>
            <a:ext cx="329184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0" y="34930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B894"/>
                </a:solidFill>
                <a:latin typeface="Calibri"/>
              </a:rPr>
              <a:t>git fetch origin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36E72"/>
                </a:solidFill>
                <a:latin typeface="Calibri"/>
              </a:rPr>
              <a:t>Dica: git pull = git fetch + git merge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36E72"/>
                </a:solidFill>
                <a:latin typeface="Calibri"/>
              </a:rPr>
              <a:t>Use fetch quando quiser inspecionar mudanças antes de integrar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4114800"/>
            <a:ext cx="3291840" cy="640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B894"/>
                </a:solidFill>
                <a:latin typeface="Calibri"/>
              </a:rPr>
              <a:t>git push -u origin main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434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B894"/>
                </a:solidFill>
                <a:latin typeface="Calibri"/>
              </a:rPr>
              <a:t>git push --all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34840" y="4114800"/>
            <a:ext cx="3291840" cy="640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0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B894"/>
                </a:solidFill>
                <a:latin typeface="Calibri"/>
              </a:rPr>
              <a:t>git pull --rebase origin main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75320" y="4114800"/>
            <a:ext cx="3291840" cy="640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12480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B894"/>
                </a:solidFill>
                <a:latin typeface="Calibri"/>
              </a:rPr>
              <a:t>git fetch --all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4434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B894"/>
                </a:solidFill>
                <a:latin typeface="Calibri"/>
              </a:rPr>
              <a:t>git diff main origin/main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Branches Remotas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D8B00"/>
                </a:solidFill>
                <a:latin typeface="Calibri"/>
              </a:rPr>
              <a:t>GERENCIANDO BRANCHES NO REPOSITÓRIO REMOTO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5029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636E72"/>
                </a:solidFill>
                <a:latin typeface="Consolas"/>
              </a:rPr>
              <a:t># Ver branches remotas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>git branch -r</a:t>
            </a:r>
          </a:p>
          <a:p>
            <a:pPr>
              <a:spcAft>
                <a:spcPts val="200"/>
              </a:spcAft>
            </a:pPr>
            <a:endParaRPr sz="14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36E72"/>
                </a:solidFill>
                <a:latin typeface="Consolas"/>
              </a:rPr>
              <a:t># Ver todas (locais + remotas)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>git branch -a</a:t>
            </a:r>
          </a:p>
          <a:p>
            <a:pPr>
              <a:spcAft>
                <a:spcPts val="200"/>
              </a:spcAft>
            </a:pPr>
            <a:endParaRPr sz="14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36E72"/>
                </a:solidFill>
                <a:latin typeface="Consolas"/>
              </a:rPr>
              <a:t># Criar branch local a partir de remota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>git switch --track origin/feature/login</a:t>
            </a:r>
          </a:p>
          <a:p>
            <a:pPr>
              <a:spcAft>
                <a:spcPts val="200"/>
              </a:spcAft>
            </a:pPr>
            <a:endParaRPr sz="14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36E72"/>
                </a:solidFill>
                <a:latin typeface="Consolas"/>
              </a:rPr>
              <a:t># Enviar branch local para o remoto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>git push origin feature/login</a:t>
            </a:r>
          </a:p>
          <a:p>
            <a:pPr>
              <a:spcAft>
                <a:spcPts val="200"/>
              </a:spcAft>
            </a:pPr>
            <a:endParaRPr sz="14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36E72"/>
                </a:solidFill>
                <a:latin typeface="Consolas"/>
              </a:rPr>
              <a:t># Enviar e definir upstream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>git push -u origin feature/login</a:t>
            </a:r>
          </a:p>
          <a:p>
            <a:pPr>
              <a:spcAft>
                <a:spcPts val="200"/>
              </a:spcAft>
            </a:pPr>
            <a:endParaRPr sz="14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36E72"/>
                </a:solidFill>
                <a:latin typeface="Consolas"/>
              </a:rPr>
              <a:t># Apagar branch remota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>git push origin --delete feature/login</a:t>
            </a:r>
          </a:p>
          <a:p>
            <a:pPr>
              <a:spcAft>
                <a:spcPts val="200"/>
              </a:spcAft>
            </a:pPr>
            <a:endParaRPr sz="14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36E72"/>
                </a:solidFill>
                <a:latin typeface="Consolas"/>
              </a:rPr>
              <a:t># Atualizar lista de branches remotas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>git fetch --prune</a:t>
            </a:r>
          </a:p>
          <a:p>
            <a:pPr>
              <a:spcAft>
                <a:spcPts val="200"/>
              </a:spcAft>
            </a:pPr>
            <a:endParaRPr sz="14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36E72"/>
                </a:solidFill>
                <a:latin typeface="Consolas"/>
              </a:rPr>
              <a:t># Ver branches que ja foram mergeadas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>git branch --merged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Autenticação no GitHub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COMO SE IDENTIFICAR PARA O REPOSITÓRIO REMOTO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554480"/>
            <a:ext cx="530352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1554480"/>
            <a:ext cx="54864" cy="4572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1554480"/>
            <a:ext cx="5303520" cy="59436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16642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HTTPS + Personal Access Token (PAT)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3774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har char="•"/>
            </a:pPr>
            <a:r>
              <a:rPr sz="1300">
                <a:solidFill>
                  <a:srgbClr val="2D3436"/>
                </a:solidFill>
                <a:latin typeface="Calibri"/>
              </a:rPr>
              <a:t>Método mais simples para iniciantes</a:t>
            </a:r>
          </a:p>
          <a:p>
            <a:pPr>
              <a:spcAft>
                <a:spcPts val="600"/>
              </a:spcAft>
              <a:buChar char="•"/>
            </a:pPr>
            <a:r>
              <a:rPr sz="1300">
                <a:solidFill>
                  <a:srgbClr val="2D3436"/>
                </a:solidFill>
                <a:latin typeface="Calibri"/>
              </a:rPr>
              <a:t>Funciona em qualquer rede/firewall</a:t>
            </a:r>
          </a:p>
          <a:p>
            <a:pPr>
              <a:spcAft>
                <a:spcPts val="600"/>
              </a:spcAft>
              <a:buChar char="•"/>
            </a:pPr>
            <a:r>
              <a:rPr sz="1300">
                <a:solidFill>
                  <a:srgbClr val="2D3436"/>
                </a:solidFill>
                <a:latin typeface="Calibri"/>
              </a:rPr>
              <a:t>Token gerado em Settings &gt; Developer &gt; PAT</a:t>
            </a:r>
          </a:p>
          <a:p>
            <a:pPr>
              <a:spcAft>
                <a:spcPts val="600"/>
              </a:spcAft>
              <a:buChar char="•"/>
            </a:pPr>
            <a:r>
              <a:rPr sz="1300">
                <a:solidFill>
                  <a:srgbClr val="2D3436"/>
                </a:solidFill>
                <a:latin typeface="Calibri"/>
              </a:rPr>
              <a:t>Token substitui a senha no git push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14800"/>
            <a:ext cx="48463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251960"/>
            <a:ext cx="448055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636E72"/>
                </a:solidFill>
                <a:latin typeface="Consolas"/>
              </a:rPr>
              <a:t># URL com HTTPS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0B894"/>
                </a:solidFill>
                <a:latin typeface="Consolas"/>
              </a:rPr>
              <a:t>git remote add origin \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0B894"/>
                </a:solidFill>
                <a:latin typeface="Consolas"/>
              </a:rPr>
              <a:t>  https://github.com/user/repo.git</a:t>
            </a:r>
          </a:p>
          <a:p>
            <a:pPr>
              <a:spcAft>
                <a:spcPts val="200"/>
              </a:spcAft>
            </a:pPr>
            <a:endParaRPr sz="11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36E72"/>
                </a:solidFill>
                <a:latin typeface="Consolas"/>
              </a:rPr>
              <a:t># Salvar credenciais em cache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0B894"/>
                </a:solidFill>
                <a:latin typeface="Consolas"/>
              </a:rPr>
              <a:t>git config --global \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0B894"/>
                </a:solidFill>
                <a:latin typeface="Consolas"/>
              </a:rPr>
              <a:t>  credential.helper store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554480"/>
            <a:ext cx="530352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1554480"/>
            <a:ext cx="54864" cy="45720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1554480"/>
            <a:ext cx="5303520" cy="59436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16642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SSH (Chave Pública/Privada)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3774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har char="•"/>
            </a:pPr>
            <a:r>
              <a:rPr sz="1300">
                <a:solidFill>
                  <a:srgbClr val="2D3436"/>
                </a:solidFill>
                <a:latin typeface="Calibri"/>
              </a:rPr>
              <a:t>Método preferido por profissionais</a:t>
            </a:r>
          </a:p>
          <a:p>
            <a:pPr>
              <a:spcAft>
                <a:spcPts val="600"/>
              </a:spcAft>
              <a:buChar char="•"/>
            </a:pPr>
            <a:r>
              <a:rPr sz="1300">
                <a:solidFill>
                  <a:srgbClr val="2D3436"/>
                </a:solidFill>
                <a:latin typeface="Calibri"/>
              </a:rPr>
              <a:t>Não precisa digitar senha a cada push</a:t>
            </a:r>
          </a:p>
          <a:p>
            <a:pPr>
              <a:spcAft>
                <a:spcPts val="600"/>
              </a:spcAft>
              <a:buChar char="•"/>
            </a:pPr>
            <a:r>
              <a:rPr sz="1300">
                <a:solidFill>
                  <a:srgbClr val="2D3436"/>
                </a:solidFill>
                <a:latin typeface="Calibri"/>
              </a:rPr>
              <a:t>Chave gerada com ssh-keygen</a:t>
            </a:r>
          </a:p>
          <a:p>
            <a:pPr>
              <a:spcAft>
                <a:spcPts val="600"/>
              </a:spcAft>
              <a:buChar char="•"/>
            </a:pPr>
            <a:r>
              <a:rPr sz="1300">
                <a:solidFill>
                  <a:srgbClr val="2D3436"/>
                </a:solidFill>
                <a:latin typeface="Calibri"/>
              </a:rPr>
              <a:t>Chave pública cadastrada no GitHub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114800"/>
            <a:ext cx="48463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4251960"/>
            <a:ext cx="448055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636E72"/>
                </a:solidFill>
                <a:latin typeface="Consolas"/>
              </a:rPr>
              <a:t># Gerar chave SSH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0B894"/>
                </a:solidFill>
                <a:latin typeface="Consolas"/>
              </a:rPr>
              <a:t>ssh-keygen -t ed25519 \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0B894"/>
                </a:solidFill>
                <a:latin typeface="Consolas"/>
              </a:rPr>
              <a:t>  -C "seu@email.com"</a:t>
            </a:r>
          </a:p>
          <a:p>
            <a:pPr>
              <a:spcAft>
                <a:spcPts val="200"/>
              </a:spcAft>
            </a:pPr>
            <a:endParaRPr sz="11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36E72"/>
                </a:solidFill>
                <a:latin typeface="Consolas"/>
              </a:rPr>
              <a:t># Copiar chave pública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0B894"/>
                </a:solidFill>
                <a:latin typeface="Consolas"/>
              </a:rPr>
              <a:t>cat ~/.ssh/id_ed25519.pub</a:t>
            </a:r>
          </a:p>
          <a:p>
            <a:pPr>
              <a:spcAft>
                <a:spcPts val="200"/>
              </a:spcAft>
            </a:pPr>
            <a:endParaRPr sz="11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36E72"/>
                </a:solidFill>
                <a:latin typeface="Consolas"/>
              </a:rPr>
              <a:t># URL com SSH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0B894"/>
                </a:solidFill>
                <a:latin typeface="Consolas"/>
              </a:rPr>
              <a:t>git remote add origin \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00B894"/>
                </a:solidFill>
                <a:latin typeface="Consolas"/>
              </a:rPr>
              <a:t>  git@github.com:user/repo.git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Atividade Prática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WORKFLOW COM BRANCHES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463040"/>
            <a:ext cx="10972800" cy="5029200"/>
          </a:xfrm>
          <a:prstGeom prst="roundRect">
            <a:avLst/>
          </a:prstGeom>
          <a:solidFill>
            <a:srgbClr val="FFF8F0"/>
          </a:solidFill>
          <a:ln w="25400">
            <a:solidFill>
              <a:srgbClr val="ED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8B00"/>
                </a:solidFill>
                <a:latin typeface="Calibri"/>
              </a:rPr>
              <a:t>Cenário: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645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3436"/>
                </a:solidFill>
                <a:latin typeface="Calibri"/>
              </a:rPr>
              <a:t>Você e sua dupla foram contratados pela FinTech Paggo para implementar novas funcionalidades no sistema de pagamentos. Cada dev trabalha em uma branch separada e depois faz merge na main.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D3436"/>
                </a:solidFill>
                <a:latin typeface="Calibri"/>
              </a:rPr>
              <a:t>1. Criar repositório no GitHub e clonar (git clone)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035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D3436"/>
                </a:solidFill>
                <a:latin typeface="Calibri"/>
              </a:rPr>
              <a:t>2. Dev A cria branch feature/tela-pagamento e faz 2 commits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112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D3436"/>
                </a:solidFill>
                <a:latin typeface="Calibri"/>
              </a:rPr>
              <a:t>3. Dev B cria branch feature/histórico e faz 2 commits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86783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D3436"/>
                </a:solidFill>
                <a:latin typeface="Calibri"/>
              </a:rPr>
              <a:t>4. Dev A faz merge da sua branch na main e push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622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D3436"/>
                </a:solidFill>
                <a:latin typeface="Calibri"/>
              </a:rPr>
              <a:t>5. Dev B faz pull, resolve possíveis conflitos, merge e push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D3436"/>
                </a:solidFill>
                <a:latin typeface="Calibri"/>
              </a:rPr>
              <a:t>6. Ambos verificam o histórico com git log --oneline --graph --all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17055"/>
                </a:solidFill>
                <a:latin typeface="Calibri"/>
              </a:rPr>
              <a:t>Desafio extra: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486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36E72"/>
                </a:solidFill>
                <a:latin typeface="Calibri"/>
              </a:rPr>
              <a:t>Ambos alteram o README.md ao mesmo tempo para provocar um conflito de merge e prática-lo!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D8B00"/>
                </a:solidFill>
                <a:latin typeface="Calibri"/>
              </a:rPr>
              <a:t>Tempo: 1 hora  |  Em duplas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Deleção e Limpeza de Branches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D8B00"/>
                </a:solidFill>
                <a:latin typeface="Calibri"/>
              </a:rPr>
              <a:t>MANTENHA SEU REPOSITÓRIO ORGANIZADO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5029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636E72"/>
                </a:solidFill>
                <a:latin typeface="Consolas"/>
              </a:rPr>
              <a:t># Deletar branch local (ja mergeada)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>git branch -d feature/login</a:t>
            </a:r>
          </a:p>
          <a:p>
            <a:pPr>
              <a:spcAft>
                <a:spcPts val="200"/>
              </a:spcAft>
            </a:pPr>
            <a:endParaRPr sz="14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36E72"/>
                </a:solidFill>
                <a:latin typeface="Consolas"/>
              </a:rPr>
              <a:t># Deletar branch local (forçar — NÃO mergeada)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>git branch -D feature/experimento</a:t>
            </a:r>
          </a:p>
          <a:p>
            <a:pPr>
              <a:spcAft>
                <a:spcPts val="200"/>
              </a:spcAft>
            </a:pPr>
            <a:endParaRPr sz="14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36E72"/>
                </a:solidFill>
                <a:latin typeface="Consolas"/>
              </a:rPr>
              <a:t># Deletar branch remota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>git push origin --delete feature/login</a:t>
            </a:r>
          </a:p>
          <a:p>
            <a:pPr>
              <a:spcAft>
                <a:spcPts val="200"/>
              </a:spcAft>
            </a:pPr>
            <a:endParaRPr sz="14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36E72"/>
                </a:solidFill>
                <a:latin typeface="Consolas"/>
              </a:rPr>
              <a:t># Listar branches ja mergeadas na main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>git branch --merged main</a:t>
            </a:r>
          </a:p>
          <a:p>
            <a:pPr>
              <a:spcAft>
                <a:spcPts val="200"/>
              </a:spcAft>
            </a:pPr>
            <a:endParaRPr sz="14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36E72"/>
                </a:solidFill>
                <a:latin typeface="Consolas"/>
              </a:rPr>
              <a:t># Deletar todas as branches locais mergeadas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>git branch --merged main | grep -v "main" | xargs git branch -d</a:t>
            </a:r>
          </a:p>
          <a:p>
            <a:pPr>
              <a:spcAft>
                <a:spcPts val="200"/>
              </a:spcAft>
            </a:pPr>
            <a:endParaRPr sz="14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36E72"/>
                </a:solidFill>
                <a:latin typeface="Consolas"/>
              </a:rPr>
              <a:t># Limpar referencias remotas desatualizadas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>git fetch --prune</a:t>
            </a:r>
          </a:p>
          <a:p>
            <a:pPr>
              <a:spcAft>
                <a:spcPts val="200"/>
              </a:spcAft>
            </a:pPr>
            <a:endParaRPr sz="14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36E72"/>
                </a:solidFill>
                <a:latin typeface="Consolas"/>
              </a:rPr>
              <a:t># Ver branches que não foram mergeadas (cuidado!)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>git branch --no-merged main</a:t>
            </a:r>
          </a:p>
          <a:p>
            <a:pPr>
              <a:spcAft>
                <a:spcPts val="200"/>
              </a:spcAft>
            </a:pPr>
            <a:endParaRPr sz="1400">
              <a:solidFill>
                <a:srgbClr val="00B89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36E72"/>
                </a:solidFill>
                <a:latin typeface="Consolas"/>
              </a:rPr>
              <a:t># Dica: configure prune automatico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>git config --global fetch.prune true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Resumo da Aula 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O QUE APRENDEMOS HOJE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554480"/>
            <a:ext cx="5303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1554480"/>
            <a:ext cx="54864" cy="118872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1691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4382"/>
                </a:solidFill>
                <a:latin typeface="Calibri"/>
              </a:rPr>
              <a:t>Branches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Linhas paralelas de desenvolvimento — baratas e rápidas no Git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1554480"/>
            <a:ext cx="5303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1554480"/>
            <a:ext cx="54864" cy="11887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1691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B894"/>
                </a:solidFill>
                <a:latin typeface="Calibri"/>
              </a:rPr>
              <a:t>Nomenclatura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feature/, bugfix/, hotfix/, release/, chore/ — padrão profissional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17520"/>
            <a:ext cx="5303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3017520"/>
            <a:ext cx="54864" cy="118872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1546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8B00"/>
                </a:solidFill>
                <a:latin typeface="Calibri"/>
              </a:rPr>
              <a:t>Fast-Forward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Merge simples quando não há divergência — histórico linear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3017520"/>
            <a:ext cx="5303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59" y="3017520"/>
            <a:ext cx="54864" cy="1188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31546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C5CE7"/>
                </a:solidFill>
                <a:latin typeface="Calibri"/>
              </a:rPr>
              <a:t>3-Way Merge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Merge com commit extra quando ambas branches divergem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80560"/>
            <a:ext cx="5303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4480560"/>
            <a:ext cx="54864" cy="1188720"/>
          </a:xfrm>
          <a:prstGeom prst="rect">
            <a:avLst/>
          </a:prstGeom>
          <a:solidFill>
            <a:srgbClr val="E17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4617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17055"/>
                </a:solidFill>
                <a:latin typeface="Calibri"/>
              </a:rPr>
              <a:t>Push / Pull / Fetch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Sincronização entre repositório local e remoto (GitHub)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4480560"/>
            <a:ext cx="5303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09359" y="4480560"/>
            <a:ext cx="54864" cy="1188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4617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C5CE7"/>
                </a:solidFill>
                <a:latin typeface="Calibri"/>
              </a:rPr>
              <a:t>Conflitos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Quando dois devs alteram a mesma linha — resolução manual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6565392"/>
            <a:ext cx="1164305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274320"/>
            <a:ext cx="25400" cy="630936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899087" y="274320"/>
            <a:ext cx="25400" cy="630936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D8B00"/>
                </a:solidFill>
                <a:latin typeface="Calibri"/>
              </a:rPr>
              <a:t>Próxima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FFFF"/>
                </a:solidFill>
                <a:latin typeface="Calibri"/>
              </a:rPr>
              <a:t>Aula 03: Rebase, Cherry-pick, Pull Requests e Git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  Git Rebase — reescrevendo o histórico de forma limpa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033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  Cherry-pick — aplicando commits específicos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06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  Pull Requests — revisão de código em equipe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9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  Git Flow — workflow profissional completo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212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  Tags e versionamento semântico (SemVer)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83AD36F74984E4C83EABABA42430AEF" ma:contentTypeVersion="3" ma:contentTypeDescription="Crie um novo documento." ma:contentTypeScope="" ma:versionID="bdab33ee89558bf29d82415e2b345454">
  <xsd:schema xmlns:xsd="http://www.w3.org/2001/XMLSchema" xmlns:xs="http://www.w3.org/2001/XMLSchema" xmlns:p="http://schemas.microsoft.com/office/2006/metadata/properties" xmlns:ns2="49d84168-217c-43eb-a13d-f6f391da8223" targetNamespace="http://schemas.microsoft.com/office/2006/metadata/properties" ma:root="true" ma:fieldsID="20eb942400b5f8426e28c99a637d8a7e" ns2:_="">
    <xsd:import namespace="49d84168-217c-43eb-a13d-f6f391da82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84168-217c-43eb-a13d-f6f391da82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8AE7C23-B5AC-4FF8-BABE-57EE712E394D}"/>
</file>

<file path=customXml/itemProps2.xml><?xml version="1.0" encoding="utf-8"?>
<ds:datastoreItem xmlns:ds="http://schemas.openxmlformats.org/officeDocument/2006/customXml" ds:itemID="{3FC65D3C-1AB6-4E4F-9299-8030E91CAD72}"/>
</file>

<file path=customXml/itemProps3.xml><?xml version="1.0" encoding="utf-8"?>
<ds:datastoreItem xmlns:ds="http://schemas.openxmlformats.org/officeDocument/2006/customXml" ds:itemID="{1560DDD0-37FA-408F-88B1-64C70053B095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9</cp:revision>
  <dcterms:created xsi:type="dcterms:W3CDTF">2013-01-27T09:14:16Z</dcterms:created>
  <dcterms:modified xsi:type="dcterms:W3CDTF">2026-04-30T00:48:33Z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0x010100483AD36F74984E4C83EABABA42430AEF</vt:lpwstr>
  </property>
</Properties>
</file>
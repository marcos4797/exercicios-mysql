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EEA6BD-9083-4819-9866-BCB8FFA2133C}" v="12" dt="2026-05-01T00:55:29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3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Workflows Profissionais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ED8B00"/>
                </a:solidFill>
                <a:latin typeface="Calibri"/>
              </a:defRPr>
            </a:pPr>
            <a:r>
              <a:t>Rebase, Cherry-pick e Pull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F5F5"/>
                </a:solidFill>
                <a:latin typeface="Calibri"/>
              </a:defRPr>
            </a:pPr>
            <a:r>
              <a:t>Módulo 03 | Aula 03 | 4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ED8B00"/>
                </a:solidFill>
                <a:latin typeface="Calibri"/>
              </a:defRPr>
            </a:pPr>
            <a:r>
              <a:t>Git &amp; GitHub: Controle de Versão Simples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 da Aula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Git Rebase — reescrevendo a história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Merge vs Rebase — quando usar cada um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Cherry-pick — selecionando commits específicos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Tags — marcando versões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Pull Request (PR) — code review profissional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Git Flow — workflow de times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GitHub Actions — automação (visão geral)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Boas práticas profissionais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Revisão Rápida — Onde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t>LOCAL: init → add → commit → branch →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t>REMOTE: push → pull → fetch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D8B00"/>
                </a:solidFill>
                <a:latin typeface="Calibri"/>
              </a:defRPr>
            </a:pPr>
            <a:r>
              <a:t>Agora vamos ao nível profissional!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Git Rebase — O 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4382"/>
                </a:solidFill>
                <a:latin typeface="Calibri"/>
              </a:defRPr>
            </a:pPr>
            <a:r>
              <a:t>REBASE = 'replanta' os commits de uma branch sobre outra</a:t>
            </a:r>
          </a:p>
          <a:p>
            <a:pPr>
              <a:spcAft>
                <a:spcPts val="400"/>
              </a:spcAft>
              <a:defRPr sz="1100" b="1">
                <a:solidFill>
                  <a:srgbClr val="ED8B00"/>
                </a:solidFill>
                <a:latin typeface="Calibri"/>
              </a:defRPr>
            </a:pPr>
            <a:r>
              <a:t>ANTES DO REBASE: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main:    A─B─C─D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feature: A─B─E─F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Histórico ramificado</a:t>
            </a:r>
          </a:p>
          <a:p>
            <a:pPr>
              <a:spcAft>
                <a:spcPts val="400"/>
              </a:spcAft>
              <a:defRPr sz="1100" b="1">
                <a:solidFill>
                  <a:srgbClr val="ED8B00"/>
                </a:solidFill>
                <a:latin typeface="Calibri"/>
              </a:defRPr>
            </a:pPr>
            <a:r>
              <a:t>APÓS MERGE: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main: A─B─C─D─M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Merge commit M</a:t>
            </a:r>
          </a:p>
          <a:p>
            <a:pPr>
              <a:spcAft>
                <a:spcPts val="400"/>
              </a:spcAft>
              <a:defRPr sz="1100" b="1">
                <a:solidFill>
                  <a:srgbClr val="ED8B00"/>
                </a:solidFill>
                <a:latin typeface="Calibri"/>
              </a:defRPr>
            </a:pPr>
            <a:r>
              <a:t>APÓS REBASE: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feature: A─B─C─D─E'─F'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Commits E,F 'replantados' sobre D</a:t>
            </a:r>
          </a:p>
          <a:p>
            <a:pPr lvl="1">
              <a:spcAft>
                <a:spcPts val="2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Histórico linear (limpo)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Git Rebase — Na Prática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300">
                <a:solidFill>
                  <a:srgbClr val="E0E0E0"/>
                </a:solidFill>
                <a:latin typeface="Consolas"/>
              </a:defRPr>
            </a:pPr>
            <a:r>
              <a:t># Na branch feature/relatorio:</a:t>
            </a:r>
            <a:br/>
            <a:r>
              <a:t>git switch feature/relatorio</a:t>
            </a:r>
            <a:br/>
            <a:r>
              <a:t>git rebase main</a:t>
            </a:r>
            <a:br/>
            <a:br/>
            <a:r>
              <a:t># Git vai:</a:t>
            </a:r>
            <a:br/>
            <a:r>
              <a:t># 1. Guardar os commits de feature</a:t>
            </a:r>
            <a:br/>
            <a:r>
              <a:t># 2. Avançar feature até ponta de main</a:t>
            </a:r>
            <a:br/>
            <a:r>
              <a:t># 3. Reaplicar commits um a um</a:t>
            </a:r>
            <a:br/>
            <a:br/>
            <a:r>
              <a:t># Se conflito durante rebase:</a:t>
            </a:r>
            <a:br/>
            <a:r>
              <a:t>git rebase --continue  # após resolver</a:t>
            </a:r>
            <a:br/>
            <a:r>
              <a:t>git rebase --abort     # cancelar</a:t>
            </a:r>
            <a:br/>
            <a:br/>
            <a:r>
              <a:t># Após rebase, merge fica limpo:</a:t>
            </a:r>
            <a:br/>
            <a:r>
              <a:t>git switch main</a:t>
            </a:r>
            <a:br/>
            <a:r>
              <a:t>git merge feature/relatorio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Rebase Interativo — Reescrevendo Histórico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D8B00"/>
                </a:solidFill>
                <a:latin typeface="Calibri"/>
              </a:defRPr>
            </a:pPr>
            <a:r>
              <a:t>Editar, reordenar, juntar ou remover commits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300">
                <a:solidFill>
                  <a:srgbClr val="E0E0E0"/>
                </a:solidFill>
                <a:latin typeface="Consolas"/>
              </a:defRPr>
            </a:pPr>
            <a:r>
              <a:t>git rebase -i HEAD~3  # Editar últimos 3 commits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4382"/>
                </a:solidFill>
                <a:latin typeface="Calibri"/>
              </a:defRPr>
            </a:pPr>
            <a:r>
              <a:t>Ações disponíveis no editor: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863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pick - Manter commit como está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reword - Manter mas editar mensagem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squash - Juntar com commit anterior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fixup - Juntar e descartar mensagem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drop - Remover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Merge vs Rebase — Quando Usar Cada Um?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4382"/>
                </a:solidFill>
                <a:latin typeface="Calibri"/>
              </a:defRPr>
            </a:pPr>
            <a:r>
              <a:t>MERGE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Preserva histórico exato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Não reescreve commits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Seguro para branches compartilhadas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Use em: main, develop, releases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5F5F5"/>
          </a:solidFill>
          <a:ln w="25400">
            <a:solidFill>
              <a:srgbClr val="ED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D8B00"/>
                </a:solidFill>
                <a:latin typeface="Calibri"/>
              </a:defRPr>
            </a:pPr>
            <a:r>
              <a:t>REBASE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Histórico linear e limpo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Reescreve commits (novos hashes)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Use apenas em branches privadas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Use em: sua feature branch local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727448"/>
            <a:ext cx="8046720" cy="283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REGRA DE OURO: Nunca faça rebase de branches públicas/compartilhadas!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Cherry-pick — Selecionando Commits Específicos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i="1">
                <a:solidFill>
                  <a:srgbClr val="ED8B00"/>
                </a:solidFill>
                <a:latin typeface="Calibri"/>
              </a:defRPr>
            </a:pPr>
            <a:r>
              <a:t>Cherry-pick = aplicar commits específicos de uma branch para outra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Uso profissional: aplicar bugfix de develop em versão antiga em produção</a:t>
            </a:r>
          </a:p>
          <a:p>
            <a:pPr>
              <a:defRPr sz="1100">
                <a:solidFill>
                  <a:srgbClr val="333333"/>
                </a:solidFill>
                <a:latin typeface="Calibri"/>
              </a:defRPr>
            </a:pPr>
            <a:r>
              <a:t>Exemplo: Branch hotfix/v1 tem fix em C → Cherry-pick cria C' em 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194560"/>
            <a:ext cx="8412480" cy="2651760"/>
          </a:xfrm>
          <a:prstGeom prst="rect">
            <a:avLst/>
          </a:prstGeom>
          <a:solidFill>
            <a:srgbClr val="1A1A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300">
                <a:solidFill>
                  <a:srgbClr val="E0E0E0"/>
                </a:solidFill>
                <a:latin typeface="Consolas"/>
              </a:defRPr>
            </a:pPr>
            <a:r>
              <a:t># Ver hash do commit</a:t>
            </a:r>
            <a:br/>
            <a:r>
              <a:t>git log --oneline feature/nova-api</a:t>
            </a:r>
            <a:br/>
            <a:br/>
            <a:r>
              <a:t># Aplicar commit específico</a:t>
            </a:r>
            <a:br/>
            <a:r>
              <a:t>git cherry-pick abc1234</a:t>
            </a:r>
            <a:br/>
            <a:br/>
            <a:r>
              <a:t># Múltiplos commits</a:t>
            </a:r>
            <a:br/>
            <a:r>
              <a:t>git cherry-pick abc1234 def5678</a:t>
            </a:r>
            <a:br/>
            <a:br/>
            <a:r>
              <a:t># Intervalo de commits</a:t>
            </a:r>
            <a:br/>
            <a:r>
              <a:t>git cherry-pick abc1234..def5678</a:t>
            </a:r>
            <a:br/>
            <a:br/>
            <a:r>
              <a:t># Sem auto-commit (para revisar)</a:t>
            </a:r>
            <a:br/>
            <a:r>
              <a:t>git cherry-pick --no-commit abc1234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Cherry-pick — Exemplo Profissional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841248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300">
                <a:solidFill>
                  <a:srgbClr val="E0E0E0"/>
                </a:solidFill>
                <a:latin typeface="Consolas"/>
              </a:defRPr>
            </a:pPr>
            <a:r>
              <a:t># E-commerce: v2.0 em development, v1.5 em produção</a:t>
            </a:r>
            <a:br/>
            <a:r>
              <a:t># Bug crítico: "fix(cart): corrige desconto duplo em cupons"</a:t>
            </a:r>
            <a:br/>
            <a:r>
              <a:t># Hash: a3f8b2c</a:t>
            </a:r>
            <a:br/>
            <a:br/>
            <a:r>
              <a:t># Precisamos aplicar esse fix em release/v1.5</a:t>
            </a:r>
            <a:br/>
            <a:r>
              <a:t># SEM trazer outras mudanças</a:t>
            </a:r>
            <a:br/>
            <a:br/>
            <a:r>
              <a:t>git switch release/v1.5</a:t>
            </a:r>
            <a:br/>
            <a:r>
              <a:t>git cherry-pick a3f8b2c</a:t>
            </a:r>
            <a:br/>
            <a:r>
              <a:t># Fix aplicado isoladamente!</a:t>
            </a:r>
            <a:br/>
            <a:br/>
            <a:r>
              <a:t>git push origin release/v1.5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Tags — Marcando Versões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8412480" cy="4023360"/>
          </a:xfrm>
          <a:prstGeom prst="rect">
            <a:avLst/>
          </a:prstGeom>
          <a:solidFill>
            <a:srgbClr val="1A1A2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defRPr sz="1300">
                <a:solidFill>
                  <a:srgbClr val="E0E0E0"/>
                </a:solidFill>
                <a:latin typeface="Consolas"/>
              </a:defRPr>
            </a:pPr>
            <a:r>
              <a:t># Tag leve (apenas ponteiro)</a:t>
            </a:r>
            <a:br/>
            <a:r>
              <a:t>git tag v1.0.0</a:t>
            </a:r>
            <a:br/>
            <a:br/>
            <a:r>
              <a:t># Tag anotada (recomendada — tem metadata)</a:t>
            </a:r>
            <a:br/>
            <a:r>
              <a:t>git tag -a v1.0.0 -m "Versão 1.0.0 — lançamento inicial"</a:t>
            </a:r>
            <a:br/>
            <a:br/>
            <a:r>
              <a:t># Listar tags</a:t>
            </a:r>
            <a:br/>
            <a:r>
              <a:t>git tag</a:t>
            </a:r>
            <a:br/>
            <a:r>
              <a:t>git tag -l "v1.*"  # filtrar por padrão</a:t>
            </a:r>
            <a:br/>
            <a:br/>
            <a:r>
              <a:t># Ver detalhes de uma tag</a:t>
            </a:r>
            <a:br/>
            <a:r>
              <a:t>git show v1.0.0</a:t>
            </a:r>
            <a:br/>
            <a:br/>
            <a:r>
              <a:t># Enviar tags para remoto</a:t>
            </a:r>
            <a:br/>
            <a:r>
              <a:t>git push origin v1.0.0      # tag específica</a:t>
            </a:r>
            <a:br/>
            <a:r>
              <a:t>git push origin --tags      # todas as tags</a:t>
            </a:r>
            <a:br/>
            <a:br/>
            <a:r>
              <a:t># Semantic Versioning: MAJOR.MINOR.PATCH (1.2.3)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Pull Request (PR) — O que É?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4382"/>
                </a:solidFill>
                <a:latin typeface="Calibri"/>
              </a:defRPr>
            </a:pPr>
            <a:r>
              <a:t>PR = solicitação formal de merge de uma branch para outra</a:t>
            </a:r>
          </a:p>
          <a:p>
            <a:pPr>
              <a:defRPr sz="1200">
                <a:solidFill>
                  <a:srgbClr val="333333"/>
                </a:solidFill>
                <a:latin typeface="Calibri"/>
              </a:defRPr>
            </a:pPr>
            <a:r>
              <a:t>Workflow: Developer → push branch → Create PR → Code Review → Approved →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4382"/>
                </a:solidFill>
                <a:latin typeface="Calibri"/>
              </a:defRPr>
            </a:pPr>
            <a:r>
              <a:t>Benefícios: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Code review por pares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Discussão e comentários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CI/CD automático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Histórico de decisões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4382"/>
                </a:solidFill>
                <a:latin typeface="Calibri"/>
              </a:defRPr>
            </a:pPr>
            <a:r>
              <a:t>Plataformas: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GitHub — Pull Request (PR)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GitLab — Merge Request (MR)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Bitbucket — Pull Request (PR)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Mesmo conceito, nomes diferentes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Criando um Pull Request no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382"/>
                </a:solidFill>
                <a:latin typeface="Calibri"/>
              </a:defRPr>
            </a:pPr>
            <a:r>
              <a:t>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1. Push sua branch: git push origin feature/minha-feature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2. GitHub mostra banner 'Compare &amp; pull request'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3. Preencher título (claro e descritivo)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4. Preencher descrição (o que, por que, como testar)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5. Escolher reviewers, labels, milestone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6. Submit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382"/>
                </a:solidFill>
                <a:latin typeface="Calibri"/>
              </a:defRPr>
            </a:pPr>
            <a:r>
              <a:t>Boas práticas: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 pequeno (&lt; 400 linhas)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Uma feature/bugfix por PR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Descrição clara com contexto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Code Review — Dando e Recebendo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4382"/>
                </a:solidFill>
                <a:latin typeface="Calibri"/>
              </a:defRPr>
            </a:pPr>
            <a:r>
              <a:t>Como revisar um PR: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Entender objetivo antes de ler código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Verificar: lógica, segurança, performance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Verificar testes e padrões do projeto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Tipos: necessário (bloqueia) vs sugestão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4382"/>
                </a:solidFill>
                <a:latin typeface="Calibri"/>
              </a:defRPr>
            </a:pPr>
            <a:r>
              <a:t>Como receber review: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28016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Separar crítica ao código de pessoal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Explicar decisões não-óbvias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Responder todos os comentários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Conversa melhor que batalha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4382"/>
                </a:solidFill>
                <a:latin typeface="Calibri"/>
              </a:defRPr>
            </a:pPr>
            <a:r>
              <a:t>Labels comuns: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2560320" cy="45720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LGTM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749039"/>
            <a:ext cx="2560320" cy="457200"/>
          </a:xfrm>
          <a:prstGeom prst="rect">
            <a:avLst/>
          </a:prstGeom>
          <a:solidFill>
            <a:srgbClr val="ED8B00"/>
          </a:solidFill>
          <a:ln>
            <a:solidFill>
              <a:srgbClr val="ED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3749039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749039"/>
            <a:ext cx="2560320" cy="4572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3749039"/>
            <a:ext cx="25603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Boas Práticas Profissionais — 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Commits frequentes e atômicos (uma coisa por commit)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Conventional Commits para mensagens padronizadas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Branches pequenas e com vida curta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Code review em todos os PRs (sem auto-merge em main)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Nunca fazer force push em branches compartilhadas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Proteger a branch main (Branch Protection Rules)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.gitignore sempre configurado (.env, node_modules, .class)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Tags para todas as releases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Atividade Final — Simulação de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D8B00"/>
                </a:solidFill>
                <a:latin typeface="Calibri"/>
              </a:defRPr>
            </a:pPr>
            <a:r>
              <a:t>Vocês são o time de desenvolvimento da startup EduTech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4382"/>
                </a:solidFill>
                <a:latin typeface="Calibri"/>
              </a:defRPr>
            </a:pPr>
            <a:r>
              <a:t>Missão (em grupos):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14927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repositório</a:t>
            </a:r>
            <a:r>
              <a:rPr dirty="0"/>
              <a:t> no GitHub com </a:t>
            </a:r>
            <a:r>
              <a:rPr dirty="0" err="1"/>
              <a:t>estrutura</a:t>
            </a:r>
            <a:r>
              <a:rPr dirty="0"/>
              <a:t> </a:t>
            </a:r>
            <a:r>
              <a:rPr dirty="0" err="1"/>
              <a:t>profissional</a:t>
            </a:r>
            <a:endParaRPr lang="pt-BR"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2. Um </a:t>
            </a:r>
            <a:r>
              <a:rPr dirty="0" err="1"/>
              <a:t>membro</a:t>
            </a:r>
            <a:r>
              <a:rPr dirty="0"/>
              <a:t> </a:t>
            </a:r>
            <a:r>
              <a:rPr dirty="0" err="1"/>
              <a:t>cria</a:t>
            </a:r>
            <a:r>
              <a:rPr dirty="0"/>
              <a:t> develop e protege main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3. Cada </a:t>
            </a:r>
            <a:r>
              <a:rPr dirty="0" err="1"/>
              <a:t>membro</a:t>
            </a:r>
            <a:r>
              <a:rPr dirty="0"/>
              <a:t> </a:t>
            </a:r>
            <a:r>
              <a:rPr dirty="0" err="1"/>
              <a:t>trabalha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sua</a:t>
            </a:r>
            <a:r>
              <a:rPr dirty="0"/>
              <a:t> feature/ branch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4. </a:t>
            </a:r>
            <a:r>
              <a:rPr dirty="0" err="1"/>
              <a:t>Criar</a:t>
            </a:r>
            <a:r>
              <a:rPr dirty="0"/>
              <a:t> PRs para develop com code review cruzado</a:t>
            </a:r>
            <a:endParaRPr dirty="0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rPr dirty="0"/>
              <a:t>5. </a:t>
            </a:r>
            <a:r>
              <a:rPr dirty="0" err="1"/>
              <a:t>Criar</a:t>
            </a:r>
            <a:r>
              <a:rPr dirty="0"/>
              <a:t> release branch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integrado</a:t>
            </a:r>
            <a:endParaRPr dirty="0" err="1">
              <a:ea typeface="Calibri"/>
              <a:cs typeface="Calibri"/>
            </a:endParaR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rPr lang="pt-BR" dirty="0"/>
              <a:t>6</a:t>
            </a:r>
            <a:r>
              <a:rPr dirty="0"/>
              <a:t>. </a:t>
            </a:r>
            <a:r>
              <a:rPr dirty="0" err="1"/>
              <a:t>Simular</a:t>
            </a:r>
            <a:r>
              <a:rPr dirty="0"/>
              <a:t> um hotfix e </a:t>
            </a:r>
            <a:r>
              <a:rPr dirty="0" err="1"/>
              <a:t>fazer</a:t>
            </a:r>
            <a:r>
              <a:rPr dirty="0"/>
              <a:t> cherry-pick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3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Encerramento do Módulo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D8B00"/>
                </a:solidFill>
                <a:latin typeface="Calibri"/>
              </a:defRPr>
            </a:pPr>
            <a:r>
              <a:t>O que você aprendeu: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6596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Controle de versão com Git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Repositório local e remoto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Branches, merge, rebase, cherry-pick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Colaboração com GitHub e Pull Requests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Workflows profissionais (Git 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ECC71"/>
                </a:solidFill>
                <a:latin typeface="Calibri"/>
              </a:defRPr>
            </a:pPr>
            <a:r>
              <a:t>Agora você fala a língua do mercado de trabalho de TI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4382"/>
          </a:solidFill>
          <a:ln>
            <a:solidFill>
              <a:srgbClr val="0043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Recursos para Continuar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Documentação oficial:</a:t>
            </a:r>
          </a:p>
          <a:p>
            <a:pPr>
              <a:spcAft>
                <a:spcPts val="800"/>
              </a:spcAft>
              <a:defRPr sz="1100" i="1">
                <a:solidFill>
                  <a:srgbClr val="2ECC71"/>
                </a:solidFill>
                <a:latin typeface="Calibri"/>
              </a:defRPr>
            </a:pPr>
            <a:r>
              <a:t>git-scm.com/doc</a:t>
            </a:r>
          </a:p>
          <a:p>
            <a:pPr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Pro Git Book (gratuito):</a:t>
            </a:r>
          </a:p>
          <a:p>
            <a:pPr>
              <a:spcAft>
                <a:spcPts val="800"/>
              </a:spcAft>
              <a:defRPr sz="1100" i="1">
                <a:solidFill>
                  <a:srgbClr val="2ECC71"/>
                </a:solidFill>
                <a:latin typeface="Calibri"/>
              </a:defRPr>
            </a:pPr>
            <a:r>
              <a:t>git-scm.com/book/en/v2</a:t>
            </a:r>
          </a:p>
          <a:p>
            <a:pPr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GitHub Skills:</a:t>
            </a:r>
          </a:p>
          <a:p>
            <a:pPr>
              <a:spcAft>
                <a:spcPts val="800"/>
              </a:spcAft>
              <a:defRPr sz="1100" i="1">
                <a:solidFill>
                  <a:srgbClr val="2ECC71"/>
                </a:solidFill>
                <a:latin typeface="Calibri"/>
              </a:defRPr>
            </a:pPr>
            <a:r>
              <a:t>skills.github.com</a:t>
            </a:r>
          </a:p>
          <a:p>
            <a:pPr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Conventional Commits:</a:t>
            </a:r>
          </a:p>
          <a:p>
            <a:pPr>
              <a:spcAft>
                <a:spcPts val="800"/>
              </a:spcAft>
              <a:defRPr sz="1100" i="1">
                <a:solidFill>
                  <a:srgbClr val="2ECC71"/>
                </a:solidFill>
                <a:latin typeface="Calibri"/>
              </a:defRPr>
            </a:pPr>
            <a:r>
              <a:t>conventionalcommits.org</a:t>
            </a:r>
          </a:p>
          <a:p>
            <a:pPr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gitignore.io:</a:t>
            </a:r>
          </a:p>
          <a:p>
            <a:pPr>
              <a:spcAft>
                <a:spcPts val="800"/>
              </a:spcAft>
              <a:defRPr sz="1100" i="1">
                <a:solidFill>
                  <a:srgbClr val="2ECC71"/>
                </a:solidFill>
                <a:latin typeface="Calibri"/>
              </a:defRPr>
            </a:pPr>
            <a:r>
              <a:t>para gerar .gitignore por linguagem</a:t>
            </a:r>
          </a:p>
          <a:p>
            <a:pPr>
              <a:spcAft>
                <a:spcPts val="20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Oh My Git! (jogo):</a:t>
            </a:r>
          </a:p>
          <a:p>
            <a:pPr>
              <a:spcAft>
                <a:spcPts val="800"/>
              </a:spcAft>
              <a:defRPr sz="1100" i="1">
                <a:solidFill>
                  <a:srgbClr val="2ECC71"/>
                </a:solidFill>
                <a:latin typeface="Calibri"/>
              </a:defRPr>
            </a:pPr>
            <a:r>
              <a:t>ohmygit.org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AD36F74984E4C83EABABA42430AEF" ma:contentTypeVersion="3" ma:contentTypeDescription="Crie um novo documento." ma:contentTypeScope="" ma:versionID="bdab33ee89558bf29d82415e2b345454">
  <xsd:schema xmlns:xsd="http://www.w3.org/2001/XMLSchema" xmlns:xs="http://www.w3.org/2001/XMLSchema" xmlns:p="http://schemas.microsoft.com/office/2006/metadata/properties" xmlns:ns2="49d84168-217c-43eb-a13d-f6f391da8223" targetNamespace="http://schemas.microsoft.com/office/2006/metadata/properties" ma:root="true" ma:fieldsID="20eb942400b5f8426e28c99a637d8a7e" ns2:_="">
    <xsd:import namespace="49d84168-217c-43eb-a13d-f6f391da82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68-217c-43eb-a13d-f6f391da8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B397B5-7214-46E1-9841-358449CDD0A5}"/>
</file>

<file path=customXml/itemProps2.xml><?xml version="1.0" encoding="utf-8"?>
<ds:datastoreItem xmlns:ds="http://schemas.openxmlformats.org/officeDocument/2006/customXml" ds:itemID="{AEDCC48F-6393-4E61-A96C-5B76C643B7F1}"/>
</file>

<file path=customXml/itemProps3.xml><?xml version="1.0" encoding="utf-8"?>
<ds:datastoreItem xmlns:ds="http://schemas.openxmlformats.org/officeDocument/2006/customXml" ds:itemID="{C2C6BC11-5439-4DC7-AFA1-E4EF6EB40DF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</cp:revision>
  <dcterms:created xsi:type="dcterms:W3CDTF">2013-01-27T09:14:16Z</dcterms:created>
  <dcterms:modified xsi:type="dcterms:W3CDTF">2026-05-01T01:03:09Z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0x010100483AD36F74984E4C83EABABA42430AEF</vt:lpwstr>
  </property>
</Properties>
</file>
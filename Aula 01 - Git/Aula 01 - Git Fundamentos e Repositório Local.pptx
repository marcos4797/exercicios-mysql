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ustomXml" Target="../customXml/item2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6565392"/>
            <a:ext cx="1164305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25400" cy="6309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9087" y="274320"/>
            <a:ext cx="25400" cy="6309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95" y="457200"/>
            <a:ext cx="3657600" cy="5943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D8B00"/>
                </a:solidFill>
                <a:latin typeface="Calibri"/>
              </a:rPr>
              <a:t>Git: Fundamentos e
Repositório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Calibri"/>
              </a:rPr>
              <a:t>Módulo 03 - Fundamentos de Programação com 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Aula 01 de 03 | 4 horas</a:t>
            </a:r>
          </a:p>
        </p:txBody>
      </p:sp>
      <p:pic>
        <p:nvPicPr>
          <p:cNvPr id="11" name="Picture 10" descr="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5212080"/>
            <a:ext cx="2286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Agenda da Aula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O QUE VAMOS APRENDER HOJE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O que é controle de versão e por que é essencial?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Git vs. GitHub — entendendo a diferença fundamental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Instalação e configuração inicial do Git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Repositório local: init, status, add, commit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A área de staging — o palco antes do commit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Visualizando histórico: log, diff, show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Desfazendo mudanças com comandos modernos</a:t>
            </a:r>
          </a:p>
          <a:p>
            <a:pPr>
              <a:spcAft>
                <a:spcPts val="600"/>
              </a:spcAft>
              <a:buChar char="•"/>
            </a:pPr>
            <a:r>
              <a:rPr sz="1600">
                <a:solidFill>
                  <a:srgbClr val="2D3436"/>
                </a:solidFill>
                <a:latin typeface="Calibri"/>
              </a:rPr>
              <a:t>Ignorando arquivos com .gitignore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O Problema sem Controle de Versão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JÁ PASSOU POR ISSO?</a:t>
            </a:r>
          </a:p>
        </p:txBody>
      </p:sp>
      <p:pic>
        <p:nvPicPr>
          <p:cNvPr id="14" name="Picture 13" descr="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029200" cy="4114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17920" y="173736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737360"/>
            <a:ext cx="54864" cy="777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38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3436"/>
                </a:solidFill>
                <a:latin typeface="Calibri"/>
              </a:rPr>
              <a:t>Qual versão é a atual?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8892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788920"/>
            <a:ext cx="54864" cy="77724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90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3436"/>
                </a:solidFill>
                <a:latin typeface="Calibri"/>
              </a:rPr>
              <a:t>Quem alterou o quê?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40479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40479"/>
            <a:ext cx="54864" cy="777240"/>
          </a:xfrm>
          <a:prstGeom prst="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4164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3436"/>
                </a:solidFill>
                <a:latin typeface="Calibri"/>
              </a:rPr>
              <a:t>Como voltar para uma versão anterior?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89204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892040"/>
            <a:ext cx="54864" cy="77724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509320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3436"/>
                </a:solidFill>
                <a:latin typeface="Calibri"/>
              </a:rPr>
              <a:t>Trabalho em equipe: caos garantido!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O que é Controle de Versão?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SISTEMA QUE REGISTRA MUDANÇAS AO LONGO DO TEMPO</a:t>
            </a:r>
          </a:p>
        </p:txBody>
      </p:sp>
      <p:pic>
        <p:nvPicPr>
          <p:cNvPr id="14" name="Picture 13" descr="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10972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Git — A Ferramenta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CONTROLE DE VERSÃO DISTRIBUÍDO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54864" cy="86868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66420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82"/>
                </a:solidFill>
                <a:latin typeface="Calibri"/>
              </a:rPr>
              <a:t>2005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Criado por Linus Torvalds para o kernel Linux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5176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54864" cy="8686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614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B894"/>
                </a:solidFill>
                <a:latin typeface="Calibri"/>
              </a:rPr>
              <a:t>Open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Gratuito e de codigo aberto — usado no mundo inteiro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49039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49039"/>
            <a:ext cx="54864" cy="86868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58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8B00"/>
                </a:solidFill>
                <a:latin typeface="Calibri"/>
              </a:rPr>
              <a:t>Distribuido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Cada desenvolvedor tem uma copia completa do repositorio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5029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54864" cy="8686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560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C5CE7"/>
                </a:solidFill>
                <a:latin typeface="Calibri"/>
              </a:rPr>
              <a:t>SHA-1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Integridade de dados garantida por hash criptografico</a:t>
            </a:r>
          </a:p>
        </p:txBody>
      </p:sp>
      <p:pic>
        <p:nvPicPr>
          <p:cNvPr id="30" name="Picture 29" descr="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4114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Git  !=  GitHub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ENTENDENDO A DIFERENCA FUNDAMENTAL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45920"/>
            <a:ext cx="5029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645920"/>
            <a:ext cx="5029200" cy="59436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755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Git — A Ferramenta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68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Ferramenta de controle de versao</a:t>
            </a:r>
          </a:p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Roda no seu computador (local)</a:t>
            </a:r>
          </a:p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Funciona 100% offline</a:t>
            </a:r>
          </a:p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Criado por Linus Torvalds em 2005</a:t>
            </a:r>
          </a:p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Gerencia historico de arquivos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5029200" cy="594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7556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GitHub — A Plataforma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468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Plataforma web para hospedar repositorios</a:t>
            </a:r>
          </a:p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Roda na nuvem (internet)</a:t>
            </a:r>
          </a:p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Colaboracao em equipe e code review</a:t>
            </a:r>
          </a:p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Criada em 2008 (adquirida pela Microsoft)</a:t>
            </a:r>
          </a:p>
          <a:p>
            <a:pPr>
              <a:spcAft>
                <a:spcPts val="600"/>
              </a:spcAft>
              <a:buChar char="•"/>
            </a:pPr>
            <a:r>
              <a:rPr sz="1400">
                <a:solidFill>
                  <a:srgbClr val="2D3436"/>
                </a:solidFill>
                <a:latin typeface="Calibri"/>
              </a:rPr>
              <a:t>Alternativas: GitLab, Bitbucket, Azure DevOps</a:t>
            </a:r>
          </a:p>
        </p:txBody>
      </p:sp>
      <p:pic>
        <p:nvPicPr>
          <p:cNvPr id="21" name="Picture 20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200400"/>
            <a:ext cx="8229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Instalacao e Configuracao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PRIMEIROS PASSOS COM O GIT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45920"/>
            <a:ext cx="4389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645920"/>
            <a:ext cx="54864" cy="77724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82"/>
                </a:solidFill>
                <a:latin typeface="Calibri"/>
              </a:rPr>
              <a:t>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git-scm.com/download/win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51760"/>
            <a:ext cx="4389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54864" cy="7772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B894"/>
                </a:solidFill>
                <a:latin typeface="Calibri"/>
              </a:rPr>
              <a:t>macOS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63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brew install git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57600"/>
            <a:ext cx="4389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57600"/>
            <a:ext cx="54864" cy="777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8B00"/>
                </a:solidFill>
                <a:latin typeface="Calibri"/>
              </a:rPr>
              <a:t>Linux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sudo apt install git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663440"/>
            <a:ext cx="4389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54864" cy="54864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36E72"/>
                </a:solidFill>
                <a:latin typeface="Calibri"/>
              </a:rPr>
              <a:t>Verificar: git --version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1645920"/>
            <a:ext cx="594360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1783080"/>
            <a:ext cx="5577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Configuracao obrigatoria (primeira vez)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config --global user.name "Seu Nome"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config --global user.email "seu@email.com"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config --global init.defaultBranch main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Configuracao recomendada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config --global core.editor "code --wait"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Verificar tudo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config --list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Repositorio 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A PASTA .GIT E O CORACAO DO REPOSITORIO</a:t>
            </a:r>
          </a:p>
        </p:txBody>
      </p:sp>
      <p:pic>
        <p:nvPicPr>
          <p:cNvPr id="14" name="Picture 13" descr="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029200" cy="4572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43600" y="1645920"/>
            <a:ext cx="548640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7830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Criar nova pasta e inicializar repositorio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mkdir meu-projeto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cd meu-projeto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init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Resultado: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Initialized empty Git repository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in /home/dev/meu-projeto/.git/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Ver estado atual dos arquivos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O Ciclo de Vida dos Arquivos no Git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CONCEITO CENTRAL — ENTENDA ANTES DE TUDO</a:t>
            </a:r>
          </a:p>
        </p:txBody>
      </p:sp>
      <p:pic>
        <p:nvPicPr>
          <p:cNvPr id="13" name="Picture 12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A Area de Staging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O PALCO ANTES DA ESTREIA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54864" cy="914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D8B00"/>
                </a:solidFill>
                <a:latin typeface="Calibri"/>
              </a:rPr>
              <a:t>Analogia: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Pense no staging como o ensaio geral antes da estreia de uma peca de teatro. Voce escolhe quais cenas (arquivos) estao prontas para o publico (commit).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651760"/>
            <a:ext cx="54864" cy="9144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382"/>
                </a:solidFill>
                <a:latin typeface="Calibri"/>
              </a:rPr>
              <a:t>Cenario profissional: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Voce alterou 10 arquivos, mas quer fazer 3 commits separados — um para o bugfix, outro para a feature, e outro para documentacao. O staging permite isso!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10972800" cy="2743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77640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Adicionar arquivo especifico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add arquivo.txt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Adicionar pasta inteira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add src/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Adicionar TUDO (cuidado!)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add 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Modo interativo — escolher trechos do arquivo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add -p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636E72"/>
                </a:solidFill>
                <a:latin typeface="Consolas"/>
              </a:rPr>
              <a:t># Remover do staging (sem perder mudancas)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00B894"/>
                </a:solidFill>
                <a:latin typeface="Consolas"/>
              </a:rPr>
              <a:t>git restore --staged arquivo.txt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Commit — Salvando um Marco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CADA COMMIT E UM SNAPSHOT DO SEU PROJETO</a:t>
            </a:r>
          </a:p>
        </p:txBody>
      </p:sp>
      <p:pic>
        <p:nvPicPr>
          <p:cNvPr id="14" name="Picture 13" descr="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5486400" cy="3657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493775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Commit com mensagem curta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git commit -m "feat: adiciona tela de login"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Commit com mensagem detalhada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git commit -m "fix: corrige validacao de email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O campo de email aceitava valores sem @.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Adicionada regex de validacao."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Adicionar e commitar de uma vez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(apenas arquivos ja rastreados)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git commit -am "refactor: extrai metodo auxiliar"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Conventional Commits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PADRAO PROFISSIONAL DE MENSAGENS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54864" cy="64008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4382"/>
                </a:solidFill>
                <a:latin typeface="Calibri"/>
              </a:rPr>
              <a:t>Formato:  tipo(escopo): descricao curta no imperativo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42032"/>
            <a:ext cx="1005840" cy="36576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603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feat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578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Nova funcionalidade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578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feat(auth): implementa login JWT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00400"/>
            <a:ext cx="1005840" cy="365760"/>
          </a:xfrm>
          <a:prstGeom prst="round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369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Correcao de bug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23697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fix(cart): corrige calculo de desconto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58768"/>
            <a:ext cx="1005840" cy="365760"/>
          </a:xfrm>
          <a:prstGeom prst="round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77056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8953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Documentacao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89534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docs(readme): adiciona instrucoes de instalacao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17136"/>
            <a:ext cx="1005840" cy="365760"/>
          </a:xfrm>
          <a:prstGeom prst="round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35424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refactor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5537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Refatoracao de codigo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5537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refactor(api): extrai logica de paginacao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175504"/>
            <a:ext cx="1005840" cy="365760"/>
          </a:xfrm>
          <a:prstGeom prst="round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193792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Testes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2120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test(user): adiciona testes para UserService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833872"/>
            <a:ext cx="1005840" cy="365760"/>
          </a:xfrm>
          <a:prstGeom prst="round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852159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chore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8704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Manutencao /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87044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chore(deps): atualiza dependencias Maven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Visualizando o Historico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D8B00"/>
                </a:solidFill>
                <a:latin typeface="Calibri"/>
              </a:rPr>
              <a:t>COMANDOS PARA INSPECIONAR SEU REPOSITORIO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Log completo (detalhado)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log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Log compacto — uma linha por commit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log --oneline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Log com grafico de branches (muito util!)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log --oneline --graph --all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Ultimos 5 commits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log --oneline -5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Ver detalhes de um commit especifico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show a3f8b2c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Diferencas entre working directory e staging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diff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Diferencas entre staging e ultimo commit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diff --staged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636E72"/>
                </a:solidFill>
                <a:latin typeface="Consolas"/>
              </a:rPr>
              <a:t># Diferencas entre dois commits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00B894"/>
                </a:solidFill>
                <a:latin typeface="Consolas"/>
              </a:rPr>
              <a:t>git diff abc1234 def5678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Desfazendo Mudancas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COMANDOS MODERNOS (GIT 2.23+)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7772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54864" cy="10515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6276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B894"/>
                </a:solidFill>
                <a:latin typeface="Calibri"/>
              </a:rPr>
              <a:t>Descartar mudancas no arquivo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git restore arquivo.txt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2677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36E72"/>
                </a:solidFill>
                <a:latin typeface="Calibri"/>
              </a:rPr>
              <a:t>Descarta alteracoes nao commitadas (seguro)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34639"/>
            <a:ext cx="7772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34639"/>
            <a:ext cx="54864" cy="10515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90779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D8B00"/>
                </a:solidFill>
                <a:latin typeface="Calibri"/>
              </a:rPr>
              <a:t>Remover arquivo do staging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246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git restore --staged arquivo.txt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547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36E72"/>
                </a:solidFill>
                <a:latin typeface="Calibri"/>
              </a:rPr>
              <a:t>Remove do staging sem perder mudancas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77724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54864" cy="105156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187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4382"/>
                </a:solidFill>
                <a:latin typeface="Calibri"/>
              </a:rPr>
              <a:t>Desfazer ultimo 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26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git reset --soft HEAD~1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28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36E72"/>
                </a:solidFill>
                <a:latin typeface="Calibri"/>
              </a:rPr>
              <a:t>Desfaz commit, mantem mudancas no staging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0972800" cy="73152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E17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17055"/>
                </a:solidFill>
                <a:latin typeface="Calibri"/>
              </a:rPr>
              <a:t>CUIDADO: git reset --hard HEAD~1 e DESTRUTIVO! Descarta mudancas permanentemente. Use com muito cuidado.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36E72"/>
                </a:solidFill>
                <a:latin typeface="Calibri"/>
              </a:rPr>
              <a:t>Nota: Prefira git restore (Git 2.23+) no lugar de git checkout -- para desfazer mudancas.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.gitignore — Ignorando Arquivos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NUNCA VERSIONE ARQUIVOS QUE NAO DEVEM SER COMPARTILHADOS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54864" cy="59436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4382"/>
                </a:solidFill>
                <a:latin typeface="Calibri"/>
              </a:rPr>
              <a:t>Compilados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*.class, *.jar, target/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3172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331720"/>
            <a:ext cx="54864" cy="59436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3774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894"/>
                </a:solidFill>
                <a:latin typeface="Calibri"/>
              </a:rPr>
              <a:t>Dependencias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node_modules/, vendor/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108960"/>
            <a:ext cx="54864" cy="594360"/>
          </a:xfrm>
          <a:prstGeom prst="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546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17055"/>
                </a:solidFill>
                <a:latin typeface="Calibri"/>
              </a:rPr>
              <a:t>Segredos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1546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.env, credentials.json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8620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886200"/>
            <a:ext cx="54864" cy="59436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E72"/>
                </a:solidFill>
                <a:latin typeface="Calibri"/>
              </a:rPr>
              <a:t>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.idea/, .vscode/, *.iml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4572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54864" cy="594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7091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D8B00"/>
                </a:solidFill>
                <a:latin typeface="Calibri"/>
              </a:rPr>
              <a:t>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709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36E72"/>
                </a:solidFill>
                <a:latin typeface="Calibri"/>
              </a:rPr>
              <a:t>*.log, logs/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86400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54864" cy="54864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B894"/>
                </a:solidFill>
                <a:latin typeface="Calibri"/>
              </a:rPr>
              <a:t>Dica: gitignore.io gera automaticamente!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1554480"/>
            <a:ext cx="576072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1691639"/>
            <a:ext cx="53949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.gitignore para projeto Java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Compilados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*.class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*.jar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*.war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target/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build/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IDEs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.idea/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.eclipse/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*.iml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.vscode/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Variaveis de ambiente (NUNCA versionar!)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.env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.env.local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.env.production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Logs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*.log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logs/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636E72"/>
                </a:solidFill>
                <a:latin typeface="Consolas"/>
              </a:rPr>
              <a:t># Sistema operacional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.DS_Store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00B894"/>
                </a:solidFill>
                <a:latin typeface="Consolas"/>
              </a:rPr>
              <a:t>Thumbs.db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Atividade Pratica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MEU PRIMEIRO REPOSITORIO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463040"/>
            <a:ext cx="10972800" cy="5029200"/>
          </a:xfrm>
          <a:prstGeom prst="roundRect">
            <a:avLst/>
          </a:prstGeom>
          <a:solidFill>
            <a:srgbClr val="FFF8F0"/>
          </a:solidFill>
          <a:ln w="25400">
            <a:solidFill>
              <a:srgbClr val="ED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8B00"/>
                </a:solidFill>
                <a:latin typeface="Calibri"/>
              </a:rPr>
              <a:t>Cenario: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645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D3436"/>
                </a:solidFill>
                <a:latin typeface="Calibri"/>
              </a:rPr>
              <a:t>Voce acaba de ser contratado como dev junior na startup TechFlow. Seu lider tecnico pede que voce configure o ambiente e crie o repositorio do projeto 'sistema-cadastro' seguindo os padroes da empresa.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D3436"/>
                </a:solidFill>
                <a:latin typeface="Calibri"/>
              </a:rPr>
              <a:t>1. Configurar o Git com seu nome e email (git config)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52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D3436"/>
                </a:solidFill>
                <a:latin typeface="Calibri"/>
              </a:rPr>
              <a:t>2. Criar a pasta sistema-cadastro e inicializar o repositorio (git init)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369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D3436"/>
                </a:solidFill>
                <a:latin typeface="Calibri"/>
              </a:rPr>
              <a:t>3. Criar README.md com descricao do projeto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210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D3436"/>
                </a:solidFill>
                <a:latin typeface="Calibri"/>
              </a:rPr>
              <a:t>4. Criar .gitignore adequado para 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05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D3436"/>
                </a:solidFill>
                <a:latin typeface="Calibri"/>
              </a:rPr>
              <a:t>5. Fazer 3 commits com mensagens Conventional Commits: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     chore: inicializa projeto com estrutura basica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731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     feat: adiciona estrutura inicial da classe 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572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     docs: atualiza README com instrucoes de execucao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412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D3436"/>
                </a:solidFill>
                <a:latin typeface="Calibri"/>
              </a:rPr>
              <a:t>6. Verificar historico com git log --oneline --graph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D8B00"/>
                </a:solidFill>
                <a:latin typeface="Calibri"/>
              </a:rPr>
              <a:t>Tempo: 45 minutos  |  Individual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63095" y="0"/>
            <a:ext cx="228600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82880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6656832"/>
            <a:ext cx="1182593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990527" y="182880"/>
            <a:ext cx="25400" cy="649224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20040"/>
            <a:ext cx="16459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657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4382"/>
                </a:solidFill>
                <a:latin typeface="Calibri"/>
              </a:defRPr>
            </a:pPr>
            <a:r>
              <a:t>Resumo da Aula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005840"/>
            <a:ext cx="7772400" cy="19050"/>
          </a:xfrm>
          <a:prstGeom prst="rect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D8B00"/>
                </a:solidFill>
                <a:latin typeface="Calibri"/>
              </a:defRPr>
            </a:pPr>
            <a:r>
              <a:t>O QUE APRENDEMOS HOJE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55448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554480"/>
            <a:ext cx="54864" cy="118872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691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382"/>
                </a:solidFill>
                <a:latin typeface="Calibri"/>
              </a:rPr>
              <a:t>Controle de Versao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Sistema para registrar mudancas — Git e distribuido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155448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1554480"/>
            <a:ext cx="54864" cy="118872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691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8B00"/>
                </a:solidFill>
                <a:latin typeface="Calibri"/>
              </a:rPr>
              <a:t>Git  != 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Git = ferramenta local; GitHub = plataforma na nuvem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17520"/>
            <a:ext cx="54864" cy="118872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1546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B894"/>
                </a:solidFill>
                <a:latin typeface="Calibri"/>
              </a:rPr>
              <a:t>Ciclo de Trabalho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Working Dir -&gt; Staging -&gt; Repository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301752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3017520"/>
            <a:ext cx="54864" cy="11887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1546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C5CE7"/>
                </a:solidFill>
                <a:latin typeface="Calibri"/>
              </a:rPr>
              <a:t>Comandos Essenciais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init, status, add, commit, log, diff, restore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80560"/>
            <a:ext cx="54864" cy="118872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D8B00"/>
                </a:solidFill>
                <a:latin typeface="Calibri"/>
              </a:rPr>
              <a:t>Conventional Commits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feat, fix, docs, refactor, test, chore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4480560"/>
            <a:ext cx="53035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4480560"/>
            <a:ext cx="54864" cy="1188720"/>
          </a:xfrm>
          <a:prstGeom prst="rect">
            <a:avLst/>
          </a:prstGeom>
          <a:solidFill>
            <a:srgbClr val="E17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17055"/>
                </a:solidFill>
                <a:latin typeface="Calibri"/>
              </a:rPr>
              <a:t>.gitignore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D3436"/>
                </a:solidFill>
                <a:latin typeface="Calibri"/>
              </a:rPr>
              <a:t>Nunca versione .env, *.class, node_modules/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3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6565392"/>
            <a:ext cx="11643055" cy="2540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25400" cy="6309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99087" y="274320"/>
            <a:ext cx="25400" cy="6309360"/>
          </a:xfrm>
          <a:prstGeom prst="rect">
            <a:avLst/>
          </a:prstGeom>
          <a:solidFill>
            <a:srgbClr val="ED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ED8B00"/>
                </a:solidFill>
                <a:latin typeface="Calibri"/>
              </a:rPr>
              <a:t>Proxima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FFFF"/>
                </a:solidFill>
                <a:latin typeface="Calibri"/>
              </a:rPr>
              <a:t>Aula 02: Branches, Merge e Repositorio Remoto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O que sao branches e por que usar?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Merge: fast-forward vs 3-way 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Resolucao de conflitos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091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Repositorio local vs remoto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  GitHub: push, pull, fetch</a:t>
            </a:r>
          </a:p>
        </p:txBody>
      </p:sp>
      <p:pic>
        <p:nvPicPr>
          <p:cNvPr id="14" name="Picture 13" descr="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5212080"/>
            <a:ext cx="228600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3AD36F74984E4C83EABABA42430AEF" ma:contentTypeVersion="3" ma:contentTypeDescription="Crie um novo documento." ma:contentTypeScope="" ma:versionID="bdab33ee89558bf29d82415e2b345454">
  <xsd:schema xmlns:xsd="http://www.w3.org/2001/XMLSchema" xmlns:xs="http://www.w3.org/2001/XMLSchema" xmlns:p="http://schemas.microsoft.com/office/2006/metadata/properties" xmlns:ns2="49d84168-217c-43eb-a13d-f6f391da8223" targetNamespace="http://schemas.microsoft.com/office/2006/metadata/properties" ma:root="true" ma:fieldsID="20eb942400b5f8426e28c99a637d8a7e" ns2:_="">
    <xsd:import namespace="49d84168-217c-43eb-a13d-f6f391da82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68-217c-43eb-a13d-f6f391da8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5DC630-EAAD-43E2-9926-C5003B06A69E}"/>
</file>

<file path=customXml/itemProps2.xml><?xml version="1.0" encoding="utf-8"?>
<ds:datastoreItem xmlns:ds="http://schemas.openxmlformats.org/officeDocument/2006/customXml" ds:itemID="{D7678288-AB14-44E7-B9AE-10A8032584A1}"/>
</file>

<file path=customXml/itemProps3.xml><?xml version="1.0" encoding="utf-8"?>
<ds:datastoreItem xmlns:ds="http://schemas.openxmlformats.org/officeDocument/2006/customXml" ds:itemID="{9201DDD2-CCB7-4065-A949-C1A1B978BE02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0x010100483AD36F74984E4C83EABABA42430AEF</vt:lpwstr>
  </property>
</Properties>
</file>